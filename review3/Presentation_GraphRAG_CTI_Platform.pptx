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sentence: a CTI workstation where each kind of threat data lives in the NoSQL engine built for it, and a GraphRAG layer that answers analyst questions with every sentence cited. Today: the complete system, a live demo, and the performance evaluation, including four scalability defects our benchmark found and we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analyst's questions touch four data shapes at once. Who shares C2 with APT28 is a graph question; a STIX report is a document with fields that differ per report; a blocklist entry must expire on time and be checked in microseconds; and 'what looks like this lure' is a similarity question. One database is optimal for at most one of these, which is the literature's 'one size does not fit all' argument. And plain RAG over CTI can produce confident attributions that no stored evidence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exists now: four stores each used for one job; 35 API endpoints behind JWT auth and TLP policy; an eight-page analyst console; 16 unit and 15 integration tests in CI; and a benchmark harness. The headline numbers: all gold evidence recalled on the six acceptance questions, GraphRAG p95 9.5 seconds with the local model, and retrieval p95 of 185 ms even at 200 times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Clients: the React console and enforcement consumers, which only ever reach the enforcement API. The FastAPI layer owns authentication, TLP policy, ingest, GraphRAG orchestration, audit and operations. The four stores each expose a closed set of operations. The enforcement API reads Redis only and fails closed. The local model is called only by the orchestrator and never writes to a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application, show the databases themselves. Top left, Neo4j Browser running Cypher on the live graph: APT28 and Sandworm share a server. Top right, mongo-express showing report rpt-002 with its own nested build_pipeline field. Bottom left, Redis Commander: an IOC key with its value and a TTL counting down. Bottom right, the Qdrant dashboard: a vector point with its payload. All four run as Docker containers from the official images; make dbui opens the two consoles that are not built in, and review3/DATABASE_TOUR.md has the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holds eight labels and twelve relationship types. Commodity tools such as Mimikatz are single shared nodes, which is what makes them hubs. Three keys join the stores: the report id is the Mongo _id, the Report node id and the Qdrant payload report_id; and an indicator's type and value is both the Indicator node key and the Redis key. Indicator nodes outlive their Redis key, so history and enforcement can legitimately disagree — that is use case UC4.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linking maps names and IOCs in the question to graph ids. Four channels retrieve in parallel, each filtered by the analyst's TLP clearance at the source. Every item gets a citation id: G for a graph edge, C for a passage, R for a report, I for an IOC state. The full pack goes to the evidence panel and the audit log; the LLM sees a ranked, trimmed pack. The gate keeps only sentences with a valid tag and refuses below 50 percent; a refused answer is replaced by deterministic evidence sentences, never by an unsupported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acceptance question 4 answered live by llama3.2:3b. The chips under each sentence link to the evidence; G16 and G17 are the ATTRIBUTED_TO_CAMPAIGN edges for NotPetya and Industroyer. The amber box is the commodity-hub caution. On the right, the evidence panel animates the cited hops. Coverage is 100 percent; the answer took about 11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things set this apart from MISP, OpenCTI or a plain RAG chatbot. Emphasise the gate with its deterministic fallback, TLP enforced inside each store query rather than after generation, the separation of the fail-closed enforcement plane from the analyst read path, replayable answers, and a fully local model that meets the latency target because of the prompt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per store would be too much; these are the capabilities you can ask us about. Neo4j: variable-length paths with COUNT subquery predicates and weighted ranking, composite uniqueness, PROFILE-driven tuning. MongoDB: schema-on-read with multikey indexes verified by explain. Redis: TTL plus a sorted-set expiry index and pipelining. Qdrant: HNSW with tunable ef and payload-indexed filters, with exact search as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cover policy and parsing; 15 integration tests drive the real API against live stores and clean up after themselves; the evaluation gate runs the six acceptance questions and fails the build if any gold edge or report is missed. All of it runs in GitHub Actions on fresh containers. In the final run every question recalled its gold evidence; question 2's draft was caught by the gate and replaced by the evidence answer — that is the safety net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NFR2 targets. Redis p99 1.08 milliseconds against 5, and 0.534 at half a million keys. Neo4j three-hop p95 15.73 milliseconds against 500. GraphRAG end to end, with the LLM, 9.5 seconds against 15. Benchmarks ran on a 2-vCPU, 4 GB Docker VM, so these are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cloned the corpus up to 200 times through the production loader: 15,012 nodes and 2,400 reports. Every store query stays within a few milliseconds. Neo4j traversal cost depends on the neighbourhood, not graph size, and the hub budget caps the evidence at 60 edges at every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scaling run looked very different: retrieval grew linearly, to 14.7 s p95 at 200 times. Profiling found four causes. Entity linking ran one regex per gazetteer entry; we replaced it with an inverted index, proven identical by a test. A global query was unbounded and fetched nodes one at a time with a label-less match — a full scan each; we bounded it and batched the lookups through index seeks. Ingest re-joined the whole graph. And under concurrency a shared Qdrant client caused HTTP 500s; now each worker thread has its own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200,000 synthetic reports MongoDB without secondary indexes scans the collection: looking up the reports that cite an IOC reads all 200,000 documents in 54.7 ms; with the multikey index it reads 3 in 0.53 ms. In Neo4j a label scan over 100,000 nodes costs 200,002 database hits; the range index makes it 3. The production indexes cost about 14 MB on 44 MB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the enforcement lookup is independent of key count — 0.29 ms median at half a million keys — while any lookup not by key is a full scan, a second at that size. That is why we never query Redis by attribute. Qdrant: exact search grows linearly; HNSW stays near 2.26 ms with recall 0.999. Filtering by TLP needs a wider search breadth, ef 128, to keep recall at 0.998.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one Uvicorn worker the enforcement check peaks at about 1,512 requests per second with four clients, with zero errors at any level after the thread-safety fix. Beyond that the Python worker, sharing two vCPUs with the databases, is the bottleneck, so latency rises from queueing. The stores are not the limit; scaling out means more workers or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showed the time went to reading the prompt: with the full evidence pack, llama3.1 spent 17 of 24.5 seconds evaluating 4,991 prompt tokens. The prompt budget — the top 30 facts, six short documents, twelve IOC states — halves the prompt; with the output cap and keep-alive llama3.1 reaches 21 to 27 seconds and llama3.2:3b 9.5 seconds. The gate fix stopped valid citations written as (G20) or G1-G4 from being thrown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functional requirement maps to code and to a test or measurement; the full table is in Section 10 of the report. The five gaps from Review I are closed: four engines with closed operation sets, a graph with an enforcement plane, Redis and Qdrant beside the graph, a constrained four-channel GraphRAG, and replayable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from the runbook in review3/DEMO_RUNBOOK.md. Re-seed five minutes before so the short TTLs are fresh. If the LLM is slow or down, untick 'use local LLM' — retrieve-only answers are instant and still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Single-node stores and one API worker are deployment choices, not design limits. The corpus is small and the 200 times scaling is synthetic; a TAXII connector would bring real volume. The 3B model meets the SLO but writes terser answers; streaming would let the 8B model feel interactive. Neural embeddings are supported but not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polyglot persistence plus constrained GraphRAG gives answers that are both useful and accountable, and the numbers back it. Then take questions — the likely ones and crisp answers are in review3/DEMO_RUNBOOK.md.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7"/>
        </a:solidFill>
      </p:bgPr>
    </p:bg>
    <p:spTree>
      <p:nvGrpSpPr>
        <p:cNvPr id="1" name=""/>
        <p:cNvGrpSpPr/>
        <p:nvPr/>
      </p:nvGrpSpPr>
      <p:grpSpPr>
        <a:xfrm>
          <a:off x="0" y="0"/>
          <a:ext cx="0" cy="0"/>
          <a:chOff x="0" y="0"/>
          <a:chExt cx="0" cy="0"/>
        </a:xfrm>
      </p:grpSpPr>
      <p:sp>
        <p:nvSpPr>
          <p:cNvPr id="2" name="Shape 0"/>
          <p:cNvSpPr/>
          <p:nvPr/>
        </p:nvSpPr>
        <p:spPr>
          <a:xfrm>
            <a:off x="548640" y="960120"/>
            <a:ext cx="109728" cy="109728"/>
          </a:xfrm>
          <a:prstGeom prst="rect">
            <a:avLst/>
          </a:prstGeom>
          <a:solidFill>
            <a:srgbClr val="C98500"/>
          </a:solidFill>
          <a:ln w="12700">
            <a:solidFill>
              <a:srgbClr val="C98500"/>
            </a:solidFill>
            <a:prstDash val="solid"/>
          </a:ln>
        </p:spPr>
      </p:sp>
      <p:sp>
        <p:nvSpPr>
          <p:cNvPr id="3" name="Text 1"/>
          <p:cNvSpPr/>
          <p:nvPr/>
        </p:nvSpPr>
        <p:spPr>
          <a:xfrm>
            <a:off x="749808" y="877824"/>
            <a:ext cx="7315200" cy="274320"/>
          </a:xfrm>
          <a:prstGeom prst="rect">
            <a:avLst/>
          </a:prstGeom>
          <a:noFill/>
          <a:ln/>
        </p:spPr>
        <p:txBody>
          <a:bodyPr wrap="square" lIns="0" tIns="0" rIns="0" bIns="0" rtlCol="0" anchor="ctr"/>
          <a:lstStyle/>
          <a:p>
            <a:pPr indent="0" marL="0">
              <a:buNone/>
            </a:pPr>
            <a:r>
              <a:rPr lang="en-US" sz="1100" b="1" spc="200" kern="0" dirty="0">
                <a:solidFill>
                  <a:srgbClr val="E3B341"/>
                </a:solidFill>
                <a:latin typeface="Calibri" pitchFamily="34" charset="0"/>
                <a:ea typeface="Calibri" pitchFamily="34" charset="-122"/>
                <a:cs typeface="Calibri" pitchFamily="34" charset="-120"/>
              </a:rPr>
              <a:t>REVIEW III  ·  FINAL DEMONSTRATION AND INNOVATION</a:t>
            </a:r>
            <a:endParaRPr lang="en-US" sz="1100" dirty="0"/>
          </a:p>
        </p:txBody>
      </p:sp>
      <p:sp>
        <p:nvSpPr>
          <p:cNvPr id="4" name="Text 2"/>
          <p:cNvSpPr/>
          <p:nvPr/>
        </p:nvSpPr>
        <p:spPr>
          <a:xfrm>
            <a:off x="548640" y="1280160"/>
            <a:ext cx="8046720" cy="1097280"/>
          </a:xfrm>
          <a:prstGeom prst="rect">
            <a:avLst/>
          </a:prstGeom>
          <a:noFill/>
          <a:ln/>
        </p:spPr>
        <p:txBody>
          <a:bodyPr wrap="square" lIns="0" tIns="0" rIns="0" bIns="0" rtlCol="0" anchor="t"/>
          <a:lstStyle/>
          <a:p>
            <a:pPr indent="0" marL="0">
              <a:buNone/>
            </a:pPr>
            <a:r>
              <a:rPr lang="en-US" sz="3400" b="1" dirty="0">
                <a:solidFill>
                  <a:srgbClr val="FFFFFF"/>
                </a:solidFill>
                <a:latin typeface="Georgia" pitchFamily="34" charset="0"/>
                <a:ea typeface="Georgia" pitchFamily="34" charset="-122"/>
                <a:cs typeface="Georgia" pitchFamily="34" charset="-120"/>
              </a:rPr>
              <a:t>GraphRAG-Powered Cyber Threat Intelligence Platform</a:t>
            </a:r>
            <a:endParaRPr lang="en-US" sz="3400" dirty="0"/>
          </a:p>
        </p:txBody>
      </p:sp>
      <p:sp>
        <p:nvSpPr>
          <p:cNvPr id="5" name="Text 3"/>
          <p:cNvSpPr/>
          <p:nvPr/>
        </p:nvSpPr>
        <p:spPr>
          <a:xfrm>
            <a:off x="548640" y="2423160"/>
            <a:ext cx="804672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 multi-model NoSQL approach: Neo4j · MongoDB · Redis · Qdrant · local LLM</a:t>
            </a:r>
            <a:endParaRPr lang="en-US" sz="1500" dirty="0"/>
          </a:p>
        </p:txBody>
      </p:sp>
      <p:sp>
        <p:nvSpPr>
          <p:cNvPr id="6" name="Text 4"/>
          <p:cNvSpPr/>
          <p:nvPr/>
        </p:nvSpPr>
        <p:spPr>
          <a:xfrm>
            <a:off x="548640" y="3291840"/>
            <a:ext cx="201168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Shivansh Sharma</a:t>
            </a:r>
            <a:endParaRPr lang="en-US" sz="1300" dirty="0"/>
          </a:p>
          <a:p>
            <a:pPr indent="0" marL="0">
              <a:buNone/>
            </a:pPr>
            <a:r>
              <a:rPr lang="en-US" sz="1300" dirty="0">
                <a:solidFill>
                  <a:srgbClr val="9FB3C8"/>
                </a:solidFill>
                <a:latin typeface="Calibri" pitchFamily="34" charset="0"/>
                <a:ea typeface="Calibri" pitchFamily="34" charset="-122"/>
                <a:cs typeface="Calibri" pitchFamily="34" charset="-120"/>
              </a:rPr>
              <a:t>23BCE0254</a:t>
            </a:r>
            <a:endParaRPr lang="en-US" sz="1300" dirty="0"/>
          </a:p>
        </p:txBody>
      </p:sp>
      <p:sp>
        <p:nvSpPr>
          <p:cNvPr id="7" name="Text 5"/>
          <p:cNvSpPr/>
          <p:nvPr/>
        </p:nvSpPr>
        <p:spPr>
          <a:xfrm>
            <a:off x="2651760" y="3291840"/>
            <a:ext cx="201168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Himali Sharma</a:t>
            </a:r>
            <a:endParaRPr lang="en-US" sz="1300" dirty="0"/>
          </a:p>
          <a:p>
            <a:pPr indent="0" marL="0">
              <a:buNone/>
            </a:pPr>
            <a:r>
              <a:rPr lang="en-US" sz="1300" dirty="0">
                <a:solidFill>
                  <a:srgbClr val="9FB3C8"/>
                </a:solidFill>
                <a:latin typeface="Calibri" pitchFamily="34" charset="0"/>
                <a:ea typeface="Calibri" pitchFamily="34" charset="-122"/>
                <a:cs typeface="Calibri" pitchFamily="34" charset="-120"/>
              </a:rPr>
              <a:t>23BCE0317</a:t>
            </a:r>
            <a:endParaRPr lang="en-US" sz="1300" dirty="0"/>
          </a:p>
        </p:txBody>
      </p:sp>
      <p:sp>
        <p:nvSpPr>
          <p:cNvPr id="8" name="Text 6"/>
          <p:cNvSpPr/>
          <p:nvPr/>
        </p:nvSpPr>
        <p:spPr>
          <a:xfrm>
            <a:off x="4754880" y="3291840"/>
            <a:ext cx="201168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Aayush Sinha</a:t>
            </a:r>
            <a:endParaRPr lang="en-US" sz="1300" dirty="0"/>
          </a:p>
          <a:p>
            <a:pPr indent="0" marL="0">
              <a:buNone/>
            </a:pPr>
            <a:r>
              <a:rPr lang="en-US" sz="1300" dirty="0">
                <a:solidFill>
                  <a:srgbClr val="9FB3C8"/>
                </a:solidFill>
                <a:latin typeface="Calibri" pitchFamily="34" charset="0"/>
                <a:ea typeface="Calibri" pitchFamily="34" charset="-122"/>
                <a:cs typeface="Calibri" pitchFamily="34" charset="-120"/>
              </a:rPr>
              <a:t>23BCE0558</a:t>
            </a:r>
            <a:endParaRPr lang="en-US" sz="1300" dirty="0"/>
          </a:p>
        </p:txBody>
      </p:sp>
      <p:sp>
        <p:nvSpPr>
          <p:cNvPr id="9" name="Text 7"/>
          <p:cNvSpPr/>
          <p:nvPr/>
        </p:nvSpPr>
        <p:spPr>
          <a:xfrm>
            <a:off x="548640" y="4160520"/>
            <a:ext cx="8046720" cy="27432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Guide: Dr. Lydia Jane G  ·  VIT Vellore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Threat intelligence is four different shapes of data</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2</a:t>
            </a:r>
            <a:endParaRPr lang="en-US" sz="800" dirty="0"/>
          </a:p>
        </p:txBody>
      </p:sp>
      <p:sp>
        <p:nvSpPr>
          <p:cNvPr id="8" name="Shape 5"/>
          <p:cNvSpPr/>
          <p:nvPr/>
        </p:nvSpPr>
        <p:spPr>
          <a:xfrm>
            <a:off x="457200" y="1325880"/>
            <a:ext cx="1920240" cy="2148840"/>
          </a:xfrm>
          <a:prstGeom prst="rect">
            <a:avLst/>
          </a:prstGeom>
          <a:solidFill>
            <a:srgbClr val="FFFFFF"/>
          </a:solidFill>
          <a:ln w="9525">
            <a:solidFill>
              <a:srgbClr val="DCDCD6"/>
            </a:solidFill>
            <a:prstDash val="solid"/>
          </a:ln>
        </p:spPr>
      </p:sp>
      <p:sp>
        <p:nvSpPr>
          <p:cNvPr id="9" name="Shape 6"/>
          <p:cNvSpPr/>
          <p:nvPr/>
        </p:nvSpPr>
        <p:spPr>
          <a:xfrm>
            <a:off x="457200" y="1325880"/>
            <a:ext cx="64008" cy="2148840"/>
          </a:xfrm>
          <a:prstGeom prst="rect">
            <a:avLst/>
          </a:prstGeom>
          <a:solidFill>
            <a:srgbClr val="1F4E79"/>
          </a:solidFill>
          <a:ln w="12700">
            <a:solidFill>
              <a:srgbClr val="1F4E79"/>
            </a:solidFill>
            <a:prstDash val="solid"/>
          </a:ln>
        </p:spPr>
      </p:sp>
      <p:sp>
        <p:nvSpPr>
          <p:cNvPr id="10" name="Text 7"/>
          <p:cNvSpPr/>
          <p:nvPr/>
        </p:nvSpPr>
        <p:spPr>
          <a:xfrm>
            <a:off x="640080" y="1417320"/>
            <a:ext cx="164592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Relationships</a:t>
            </a:r>
            <a:endParaRPr lang="en-US" sz="1300" dirty="0"/>
          </a:p>
        </p:txBody>
      </p:sp>
      <p:sp>
        <p:nvSpPr>
          <p:cNvPr id="11" name="Text 8"/>
          <p:cNvSpPr/>
          <p:nvPr/>
        </p:nvSpPr>
        <p:spPr>
          <a:xfrm>
            <a:off x="640080" y="1728216"/>
            <a:ext cx="1645920" cy="167335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Which actors share C2 infrastructure with APT28?</a:t>
            </a:r>
            <a:endParaRPr lang="en-US" sz="1150" dirty="0"/>
          </a:p>
          <a:p>
            <a:pPr indent="0" marL="0">
              <a:spcAft>
                <a:spcPts val="300"/>
              </a:spcAft>
              <a:buNone/>
            </a:pP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 graph</a:t>
            </a:r>
            <a:endParaRPr lang="en-US" sz="1150" dirty="0"/>
          </a:p>
        </p:txBody>
      </p:sp>
      <p:sp>
        <p:nvSpPr>
          <p:cNvPr id="12" name="Shape 9"/>
          <p:cNvSpPr/>
          <p:nvPr/>
        </p:nvSpPr>
        <p:spPr>
          <a:xfrm>
            <a:off x="2532888" y="1325880"/>
            <a:ext cx="1920240" cy="2148840"/>
          </a:xfrm>
          <a:prstGeom prst="rect">
            <a:avLst/>
          </a:prstGeom>
          <a:solidFill>
            <a:srgbClr val="FFFFFF"/>
          </a:solidFill>
          <a:ln w="9525">
            <a:solidFill>
              <a:srgbClr val="DCDCD6"/>
            </a:solidFill>
            <a:prstDash val="solid"/>
          </a:ln>
        </p:spPr>
      </p:sp>
      <p:sp>
        <p:nvSpPr>
          <p:cNvPr id="13" name="Shape 10"/>
          <p:cNvSpPr/>
          <p:nvPr/>
        </p:nvSpPr>
        <p:spPr>
          <a:xfrm>
            <a:off x="2532888" y="1325880"/>
            <a:ext cx="64008" cy="2148840"/>
          </a:xfrm>
          <a:prstGeom prst="rect">
            <a:avLst/>
          </a:prstGeom>
          <a:solidFill>
            <a:srgbClr val="0E5A66"/>
          </a:solidFill>
          <a:ln w="12700">
            <a:solidFill>
              <a:srgbClr val="0E5A66"/>
            </a:solidFill>
            <a:prstDash val="solid"/>
          </a:ln>
        </p:spPr>
      </p:sp>
      <p:sp>
        <p:nvSpPr>
          <p:cNvPr id="14" name="Text 11"/>
          <p:cNvSpPr/>
          <p:nvPr/>
        </p:nvSpPr>
        <p:spPr>
          <a:xfrm>
            <a:off x="2715768" y="1417320"/>
            <a:ext cx="1645920" cy="292608"/>
          </a:xfrm>
          <a:prstGeom prst="rect">
            <a:avLst/>
          </a:prstGeom>
          <a:noFill/>
          <a:ln/>
        </p:spPr>
        <p:txBody>
          <a:bodyPr wrap="square" lIns="0" tIns="0" rIns="0" bIns="0" rtlCol="0" anchor="ctr"/>
          <a:lstStyle/>
          <a:p>
            <a:pPr indent="0" marL="0">
              <a:buNone/>
            </a:pPr>
            <a:r>
              <a:rPr lang="en-US" sz="1300" b="1" dirty="0">
                <a:solidFill>
                  <a:srgbClr val="0E5A66"/>
                </a:solidFill>
                <a:latin typeface="Calibri" pitchFamily="34" charset="0"/>
                <a:ea typeface="Calibri" pitchFamily="34" charset="-122"/>
                <a:cs typeface="Calibri" pitchFamily="34" charset="-120"/>
              </a:rPr>
              <a:t>Reports</a:t>
            </a:r>
            <a:endParaRPr lang="en-US" sz="1300" dirty="0"/>
          </a:p>
        </p:txBody>
      </p:sp>
      <p:sp>
        <p:nvSpPr>
          <p:cNvPr id="15" name="Text 12"/>
          <p:cNvSpPr/>
          <p:nvPr/>
        </p:nvSpPr>
        <p:spPr>
          <a:xfrm>
            <a:off x="2715768" y="1728216"/>
            <a:ext cx="1645920" cy="167335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STIX bundles and analyst reports, each with different nested fields</a:t>
            </a:r>
            <a:endParaRPr lang="en-US" sz="1150" dirty="0"/>
          </a:p>
          <a:p>
            <a:pPr indent="0" marL="0">
              <a:spcAft>
                <a:spcPts val="300"/>
              </a:spcAft>
              <a:buNone/>
            </a:pP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 document</a:t>
            </a:r>
            <a:endParaRPr lang="en-US" sz="1150" dirty="0"/>
          </a:p>
        </p:txBody>
      </p:sp>
      <p:sp>
        <p:nvSpPr>
          <p:cNvPr id="16" name="Shape 13"/>
          <p:cNvSpPr/>
          <p:nvPr/>
        </p:nvSpPr>
        <p:spPr>
          <a:xfrm>
            <a:off x="4608576" y="1325880"/>
            <a:ext cx="1920240" cy="2148840"/>
          </a:xfrm>
          <a:prstGeom prst="rect">
            <a:avLst/>
          </a:prstGeom>
          <a:solidFill>
            <a:srgbClr val="FFFFFF"/>
          </a:solidFill>
          <a:ln w="9525">
            <a:solidFill>
              <a:srgbClr val="DCDCD6"/>
            </a:solidFill>
            <a:prstDash val="solid"/>
          </a:ln>
        </p:spPr>
      </p:sp>
      <p:sp>
        <p:nvSpPr>
          <p:cNvPr id="17" name="Shape 14"/>
          <p:cNvSpPr/>
          <p:nvPr/>
        </p:nvSpPr>
        <p:spPr>
          <a:xfrm>
            <a:off x="4608576" y="1325880"/>
            <a:ext cx="64008" cy="2148840"/>
          </a:xfrm>
          <a:prstGeom prst="rect">
            <a:avLst/>
          </a:prstGeom>
          <a:solidFill>
            <a:srgbClr val="7A2A2A"/>
          </a:solidFill>
          <a:ln w="12700">
            <a:solidFill>
              <a:srgbClr val="7A2A2A"/>
            </a:solidFill>
            <a:prstDash val="solid"/>
          </a:ln>
        </p:spPr>
      </p:sp>
      <p:sp>
        <p:nvSpPr>
          <p:cNvPr id="18" name="Text 15"/>
          <p:cNvSpPr/>
          <p:nvPr/>
        </p:nvSpPr>
        <p:spPr>
          <a:xfrm>
            <a:off x="4791456" y="1417320"/>
            <a:ext cx="1645920" cy="292608"/>
          </a:xfrm>
          <a:prstGeom prst="rect">
            <a:avLst/>
          </a:prstGeom>
          <a:noFill/>
          <a:ln/>
        </p:spPr>
        <p:txBody>
          <a:bodyPr wrap="square" lIns="0" tIns="0" rIns="0" bIns="0" rtlCol="0" anchor="ctr"/>
          <a:lstStyle/>
          <a:p>
            <a:pPr indent="0" marL="0">
              <a:buNone/>
            </a:pPr>
            <a:r>
              <a:rPr lang="en-US" sz="1300" b="1" dirty="0">
                <a:solidFill>
                  <a:srgbClr val="7A2A2A"/>
                </a:solidFill>
                <a:latin typeface="Calibri" pitchFamily="34" charset="0"/>
                <a:ea typeface="Calibri" pitchFamily="34" charset="-122"/>
                <a:cs typeface="Calibri" pitchFamily="34" charset="-120"/>
              </a:rPr>
              <a:t>Live indicators</a:t>
            </a:r>
            <a:endParaRPr lang="en-US" sz="1300" dirty="0"/>
          </a:p>
        </p:txBody>
      </p:sp>
      <p:sp>
        <p:nvSpPr>
          <p:cNvPr id="19" name="Text 16"/>
          <p:cNvSpPr/>
          <p:nvPr/>
        </p:nvSpPr>
        <p:spPr>
          <a:xfrm>
            <a:off x="4791456" y="1728216"/>
            <a:ext cx="1645920" cy="167335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Is 185.86.77.12 still on the blocklist? It must expire on time.</a:t>
            </a:r>
            <a:endParaRPr lang="en-US" sz="1150" dirty="0"/>
          </a:p>
          <a:p>
            <a:pPr indent="0" marL="0">
              <a:spcAft>
                <a:spcPts val="300"/>
              </a:spcAft>
              <a:buNone/>
            </a:pP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 key–value + TTL</a:t>
            </a:r>
            <a:endParaRPr lang="en-US" sz="1150" dirty="0"/>
          </a:p>
        </p:txBody>
      </p:sp>
      <p:sp>
        <p:nvSpPr>
          <p:cNvPr id="20" name="Shape 17"/>
          <p:cNvSpPr/>
          <p:nvPr/>
        </p:nvSpPr>
        <p:spPr>
          <a:xfrm>
            <a:off x="6684264" y="1325880"/>
            <a:ext cx="1920240" cy="2148840"/>
          </a:xfrm>
          <a:prstGeom prst="rect">
            <a:avLst/>
          </a:prstGeom>
          <a:solidFill>
            <a:srgbClr val="FFFFFF"/>
          </a:solidFill>
          <a:ln w="9525">
            <a:solidFill>
              <a:srgbClr val="DCDCD6"/>
            </a:solidFill>
            <a:prstDash val="solid"/>
          </a:ln>
        </p:spPr>
      </p:sp>
      <p:sp>
        <p:nvSpPr>
          <p:cNvPr id="21" name="Shape 18"/>
          <p:cNvSpPr/>
          <p:nvPr/>
        </p:nvSpPr>
        <p:spPr>
          <a:xfrm>
            <a:off x="6684264" y="1325880"/>
            <a:ext cx="64008" cy="2148840"/>
          </a:xfrm>
          <a:prstGeom prst="rect">
            <a:avLst/>
          </a:prstGeom>
          <a:solidFill>
            <a:srgbClr val="48306B"/>
          </a:solidFill>
          <a:ln w="12700">
            <a:solidFill>
              <a:srgbClr val="48306B"/>
            </a:solidFill>
            <a:prstDash val="solid"/>
          </a:ln>
        </p:spPr>
      </p:sp>
      <p:sp>
        <p:nvSpPr>
          <p:cNvPr id="22" name="Text 19"/>
          <p:cNvSpPr/>
          <p:nvPr/>
        </p:nvSpPr>
        <p:spPr>
          <a:xfrm>
            <a:off x="6867144" y="1417320"/>
            <a:ext cx="1645920" cy="292608"/>
          </a:xfrm>
          <a:prstGeom prst="rect">
            <a:avLst/>
          </a:prstGeom>
          <a:noFill/>
          <a:ln/>
        </p:spPr>
        <p:txBody>
          <a:bodyPr wrap="square" lIns="0" tIns="0" rIns="0" bIns="0" rtlCol="0" anchor="ctr"/>
          <a:lstStyle/>
          <a:p>
            <a:pPr indent="0" marL="0">
              <a:buNone/>
            </a:pPr>
            <a:r>
              <a:rPr lang="en-US" sz="1300" b="1" dirty="0">
                <a:solidFill>
                  <a:srgbClr val="48306B"/>
                </a:solidFill>
                <a:latin typeface="Calibri" pitchFamily="34" charset="0"/>
                <a:ea typeface="Calibri" pitchFamily="34" charset="-122"/>
                <a:cs typeface="Calibri" pitchFamily="34" charset="-120"/>
              </a:rPr>
              <a:t>Narrative</a:t>
            </a:r>
            <a:endParaRPr lang="en-US" sz="1300" dirty="0"/>
          </a:p>
        </p:txBody>
      </p:sp>
      <p:sp>
        <p:nvSpPr>
          <p:cNvPr id="23" name="Text 20"/>
          <p:cNvSpPr/>
          <p:nvPr/>
        </p:nvSpPr>
        <p:spPr>
          <a:xfrm>
            <a:off x="6867144" y="1728216"/>
            <a:ext cx="1645920" cy="167335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What else looks like this spearphishing lure?</a:t>
            </a:r>
            <a:endParaRPr lang="en-US" sz="1150" dirty="0"/>
          </a:p>
          <a:p>
            <a:pPr indent="0" marL="0">
              <a:spcAft>
                <a:spcPts val="300"/>
              </a:spcAft>
              <a:buNone/>
            </a:pP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 vector similarity</a:t>
            </a:r>
            <a:endParaRPr lang="en-US" sz="1150" dirty="0"/>
          </a:p>
        </p:txBody>
      </p:sp>
      <p:sp>
        <p:nvSpPr>
          <p:cNvPr id="24" name="Text 21"/>
          <p:cNvSpPr/>
          <p:nvPr/>
        </p:nvSpPr>
        <p:spPr>
          <a:xfrm>
            <a:off x="457200" y="3749040"/>
            <a:ext cx="8229600" cy="731520"/>
          </a:xfrm>
          <a:prstGeom prst="rect">
            <a:avLst/>
          </a:prstGeom>
          <a:noFill/>
          <a:ln/>
        </p:spPr>
        <p:txBody>
          <a:bodyPr wrap="square" lIns="0" tIns="0" rIns="0" bIns="0" rtlCol="0" anchor="t"/>
          <a:lstStyle/>
          <a:p>
            <a:pPr indent="0" marL="0">
              <a:buNone/>
            </a:pPr>
            <a:r>
              <a:rPr lang="en-US" sz="1400" b="1" dirty="0">
                <a:solidFill>
                  <a:srgbClr val="0F2A47"/>
                </a:solidFill>
                <a:latin typeface="Calibri" pitchFamily="34" charset="0"/>
                <a:ea typeface="Calibri" pitchFamily="34" charset="-122"/>
                <a:cs typeface="Calibri" pitchFamily="34" charset="-120"/>
              </a:rPr>
              <a:t>One engine fits at most one of these. </a:t>
            </a:r>
            <a:pPr indent="0" marL="0">
              <a:buNone/>
            </a:pPr>
            <a:r>
              <a:rPr lang="en-US" sz="1400" dirty="0">
                <a:solidFill>
                  <a:srgbClr val="1A1F26"/>
                </a:solidFill>
                <a:latin typeface="Calibri" pitchFamily="34" charset="0"/>
                <a:ea typeface="Calibri" pitchFamily="34" charset="-122"/>
                <a:cs typeface="Calibri" pitchFamily="34" charset="-120"/>
              </a:rPr>
              <a:t>And an LLM answering CTI questions must not invent attributions: every claim has to be traceable to stored evidence.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REVIEW III</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A complete, measured system</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3</a:t>
            </a:r>
            <a:endParaRPr lang="en-US" sz="800" dirty="0"/>
          </a:p>
        </p:txBody>
      </p:sp>
      <p:sp>
        <p:nvSpPr>
          <p:cNvPr id="8" name="Text 5"/>
          <p:cNvSpPr/>
          <p:nvPr/>
        </p:nvSpPr>
        <p:spPr>
          <a:xfrm>
            <a:off x="457200" y="1371600"/>
            <a:ext cx="1920240" cy="566928"/>
          </a:xfrm>
          <a:prstGeom prst="rect">
            <a:avLst/>
          </a:prstGeom>
          <a:noFill/>
          <a:ln/>
        </p:spPr>
        <p:txBody>
          <a:bodyPr wrap="square" lIns="0" tIns="0" rIns="0" bIns="0" rtlCol="0" anchor="ctr"/>
          <a:lstStyle/>
          <a:p>
            <a:pPr indent="0" marL="0">
              <a:buNone/>
            </a:pPr>
            <a:r>
              <a:rPr lang="en-US" sz="3000" b="1" dirty="0">
                <a:solidFill>
                  <a:srgbClr val="0F2A47"/>
                </a:solidFill>
                <a:latin typeface="Georgia" pitchFamily="34" charset="0"/>
                <a:ea typeface="Georgia" pitchFamily="34" charset="-122"/>
                <a:cs typeface="Georgia" pitchFamily="34" charset="-120"/>
              </a:rPr>
              <a:t>4</a:t>
            </a:r>
            <a:endParaRPr lang="en-US" sz="3000" dirty="0"/>
          </a:p>
        </p:txBody>
      </p:sp>
      <p:sp>
        <p:nvSpPr>
          <p:cNvPr id="9" name="Text 6"/>
          <p:cNvSpPr/>
          <p:nvPr/>
        </p:nvSpPr>
        <p:spPr>
          <a:xfrm>
            <a:off x="457200" y="1938528"/>
            <a:ext cx="192024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NoSQL engines</a:t>
            </a:r>
            <a:endParaRPr lang="en-US" sz="1100" dirty="0"/>
          </a:p>
        </p:txBody>
      </p:sp>
      <p:sp>
        <p:nvSpPr>
          <p:cNvPr id="10" name="Text 7"/>
          <p:cNvSpPr/>
          <p:nvPr/>
        </p:nvSpPr>
        <p:spPr>
          <a:xfrm>
            <a:off x="457200" y="2194560"/>
            <a:ext cx="192024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graph, document, key–value, vector — one job each</a:t>
            </a:r>
            <a:endParaRPr lang="en-US" sz="950" dirty="0"/>
          </a:p>
        </p:txBody>
      </p:sp>
      <p:sp>
        <p:nvSpPr>
          <p:cNvPr id="11" name="Text 8"/>
          <p:cNvSpPr/>
          <p:nvPr/>
        </p:nvSpPr>
        <p:spPr>
          <a:xfrm>
            <a:off x="2514600" y="1371600"/>
            <a:ext cx="1920240" cy="566928"/>
          </a:xfrm>
          <a:prstGeom prst="rect">
            <a:avLst/>
          </a:prstGeom>
          <a:noFill/>
          <a:ln/>
        </p:spPr>
        <p:txBody>
          <a:bodyPr wrap="square" lIns="0" tIns="0" rIns="0" bIns="0" rtlCol="0" anchor="ctr"/>
          <a:lstStyle/>
          <a:p>
            <a:pPr indent="0" marL="0">
              <a:buNone/>
            </a:pPr>
            <a:r>
              <a:rPr lang="en-US" sz="3000" b="1" dirty="0">
                <a:solidFill>
                  <a:srgbClr val="0F2A47"/>
                </a:solidFill>
                <a:latin typeface="Georgia" pitchFamily="34" charset="0"/>
                <a:ea typeface="Georgia" pitchFamily="34" charset="-122"/>
                <a:cs typeface="Georgia" pitchFamily="34" charset="-120"/>
              </a:rPr>
              <a:t>35</a:t>
            </a:r>
            <a:endParaRPr lang="en-US" sz="3000" dirty="0"/>
          </a:p>
        </p:txBody>
      </p:sp>
      <p:sp>
        <p:nvSpPr>
          <p:cNvPr id="12" name="Text 9"/>
          <p:cNvSpPr/>
          <p:nvPr/>
        </p:nvSpPr>
        <p:spPr>
          <a:xfrm>
            <a:off x="2514600" y="1938528"/>
            <a:ext cx="192024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API endpoints</a:t>
            </a:r>
            <a:endParaRPr lang="en-US" sz="1100" dirty="0"/>
          </a:p>
        </p:txBody>
      </p:sp>
      <p:sp>
        <p:nvSpPr>
          <p:cNvPr id="13" name="Text 10"/>
          <p:cNvSpPr/>
          <p:nvPr/>
        </p:nvSpPr>
        <p:spPr>
          <a:xfrm>
            <a:off x="2514600" y="2194560"/>
            <a:ext cx="192024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JWT roles, TLP on every read, fail-closed enforcement</a:t>
            </a:r>
            <a:endParaRPr lang="en-US" sz="950" dirty="0"/>
          </a:p>
        </p:txBody>
      </p:sp>
      <p:sp>
        <p:nvSpPr>
          <p:cNvPr id="14" name="Text 11"/>
          <p:cNvSpPr/>
          <p:nvPr/>
        </p:nvSpPr>
        <p:spPr>
          <a:xfrm>
            <a:off x="4572000" y="1371600"/>
            <a:ext cx="1920240" cy="566928"/>
          </a:xfrm>
          <a:prstGeom prst="rect">
            <a:avLst/>
          </a:prstGeom>
          <a:noFill/>
          <a:ln/>
        </p:spPr>
        <p:txBody>
          <a:bodyPr wrap="square" lIns="0" tIns="0" rIns="0" bIns="0" rtlCol="0" anchor="ctr"/>
          <a:lstStyle/>
          <a:p>
            <a:pPr indent="0" marL="0">
              <a:buNone/>
            </a:pPr>
            <a:r>
              <a:rPr lang="en-US" sz="3000" b="1" dirty="0">
                <a:solidFill>
                  <a:srgbClr val="0F2A47"/>
                </a:solidFill>
                <a:latin typeface="Georgia" pitchFamily="34" charset="0"/>
                <a:ea typeface="Georgia" pitchFamily="34" charset="-122"/>
                <a:cs typeface="Georgia" pitchFamily="34" charset="-120"/>
              </a:rPr>
              <a:t>31</a:t>
            </a:r>
            <a:endParaRPr lang="en-US" sz="3000" dirty="0"/>
          </a:p>
        </p:txBody>
      </p:sp>
      <p:sp>
        <p:nvSpPr>
          <p:cNvPr id="15" name="Text 12"/>
          <p:cNvSpPr/>
          <p:nvPr/>
        </p:nvSpPr>
        <p:spPr>
          <a:xfrm>
            <a:off x="4572000" y="1938528"/>
            <a:ext cx="192024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automated tests</a:t>
            </a:r>
            <a:endParaRPr lang="en-US" sz="1100" dirty="0"/>
          </a:p>
        </p:txBody>
      </p:sp>
      <p:sp>
        <p:nvSpPr>
          <p:cNvPr id="16" name="Text 13"/>
          <p:cNvSpPr/>
          <p:nvPr/>
        </p:nvSpPr>
        <p:spPr>
          <a:xfrm>
            <a:off x="4572000" y="2194560"/>
            <a:ext cx="192024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16 unit + 15 integration, run in CI on every push</a:t>
            </a:r>
            <a:endParaRPr lang="en-US" sz="950" dirty="0"/>
          </a:p>
        </p:txBody>
      </p:sp>
      <p:sp>
        <p:nvSpPr>
          <p:cNvPr id="17" name="Text 14"/>
          <p:cNvSpPr/>
          <p:nvPr/>
        </p:nvSpPr>
        <p:spPr>
          <a:xfrm>
            <a:off x="6629400" y="1371600"/>
            <a:ext cx="2057400" cy="566928"/>
          </a:xfrm>
          <a:prstGeom prst="rect">
            <a:avLst/>
          </a:prstGeom>
          <a:noFill/>
          <a:ln/>
        </p:spPr>
        <p:txBody>
          <a:bodyPr wrap="square" lIns="0" tIns="0" rIns="0" bIns="0" rtlCol="0" anchor="ctr"/>
          <a:lstStyle/>
          <a:p>
            <a:pPr indent="0" marL="0">
              <a:buNone/>
            </a:pPr>
            <a:r>
              <a:rPr lang="en-US" sz="3000" b="1" dirty="0">
                <a:solidFill>
                  <a:srgbClr val="1B5E40"/>
                </a:solidFill>
                <a:latin typeface="Georgia" pitchFamily="34" charset="0"/>
                <a:ea typeface="Georgia" pitchFamily="34" charset="-122"/>
                <a:cs typeface="Georgia" pitchFamily="34" charset="-120"/>
              </a:rPr>
              <a:t>100%</a:t>
            </a:r>
            <a:endParaRPr lang="en-US" sz="3000" dirty="0"/>
          </a:p>
        </p:txBody>
      </p:sp>
      <p:sp>
        <p:nvSpPr>
          <p:cNvPr id="18" name="Text 15"/>
          <p:cNvSpPr/>
          <p:nvPr/>
        </p:nvSpPr>
        <p:spPr>
          <a:xfrm>
            <a:off x="6629400" y="1938528"/>
            <a:ext cx="205740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gold evidence recalled</a:t>
            </a:r>
            <a:endParaRPr lang="en-US" sz="1100" dirty="0"/>
          </a:p>
        </p:txBody>
      </p:sp>
      <p:sp>
        <p:nvSpPr>
          <p:cNvPr id="19" name="Text 16"/>
          <p:cNvSpPr/>
          <p:nvPr/>
        </p:nvSpPr>
        <p:spPr>
          <a:xfrm>
            <a:off x="6629400" y="2194560"/>
            <a:ext cx="205740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six acceptance questions, edges and reports</a:t>
            </a:r>
            <a:endParaRPr lang="en-US" sz="950" dirty="0"/>
          </a:p>
        </p:txBody>
      </p:sp>
      <p:sp>
        <p:nvSpPr>
          <p:cNvPr id="20" name="Text 17"/>
          <p:cNvSpPr/>
          <p:nvPr/>
        </p:nvSpPr>
        <p:spPr>
          <a:xfrm>
            <a:off x="457200" y="3017520"/>
            <a:ext cx="1920240" cy="566928"/>
          </a:xfrm>
          <a:prstGeom prst="rect">
            <a:avLst/>
          </a:prstGeom>
          <a:noFill/>
          <a:ln/>
        </p:spPr>
        <p:txBody>
          <a:bodyPr wrap="square" lIns="0" tIns="0" rIns="0" bIns="0" rtlCol="0" anchor="ctr"/>
          <a:lstStyle/>
          <a:p>
            <a:pPr indent="0" marL="0">
              <a:buNone/>
            </a:pPr>
            <a:r>
              <a:rPr lang="en-US" sz="3000" b="1" dirty="0">
                <a:solidFill>
                  <a:srgbClr val="1B5E40"/>
                </a:solidFill>
                <a:latin typeface="Georgia" pitchFamily="34" charset="0"/>
                <a:ea typeface="Georgia" pitchFamily="34" charset="-122"/>
                <a:cs typeface="Georgia" pitchFamily="34" charset="-120"/>
              </a:rPr>
              <a:t>9.5 s</a:t>
            </a:r>
            <a:endParaRPr lang="en-US" sz="3000" dirty="0"/>
          </a:p>
        </p:txBody>
      </p:sp>
      <p:sp>
        <p:nvSpPr>
          <p:cNvPr id="21" name="Text 18"/>
          <p:cNvSpPr/>
          <p:nvPr/>
        </p:nvSpPr>
        <p:spPr>
          <a:xfrm>
            <a:off x="457200" y="3584448"/>
            <a:ext cx="192024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GraphRAG p95</a:t>
            </a:r>
            <a:endParaRPr lang="en-US" sz="1100" dirty="0"/>
          </a:p>
        </p:txBody>
      </p:sp>
      <p:sp>
        <p:nvSpPr>
          <p:cNvPr id="22" name="Text 19"/>
          <p:cNvSpPr/>
          <p:nvPr/>
        </p:nvSpPr>
        <p:spPr>
          <a:xfrm>
            <a:off x="457200" y="3840480"/>
            <a:ext cx="192024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target &lt; 15 s (was 52.3 s)</a:t>
            </a:r>
            <a:endParaRPr lang="en-US" sz="950" dirty="0"/>
          </a:p>
        </p:txBody>
      </p:sp>
      <p:sp>
        <p:nvSpPr>
          <p:cNvPr id="23" name="Text 20"/>
          <p:cNvSpPr/>
          <p:nvPr/>
        </p:nvSpPr>
        <p:spPr>
          <a:xfrm>
            <a:off x="2514600" y="3017520"/>
            <a:ext cx="1920240" cy="566928"/>
          </a:xfrm>
          <a:prstGeom prst="rect">
            <a:avLst/>
          </a:prstGeom>
          <a:noFill/>
          <a:ln/>
        </p:spPr>
        <p:txBody>
          <a:bodyPr wrap="square" lIns="0" tIns="0" rIns="0" bIns="0" rtlCol="0" anchor="ctr"/>
          <a:lstStyle/>
          <a:p>
            <a:pPr indent="0" marL="0">
              <a:buNone/>
            </a:pPr>
            <a:r>
              <a:rPr lang="en-US" sz="3000" b="1" dirty="0">
                <a:solidFill>
                  <a:srgbClr val="0F2A47"/>
                </a:solidFill>
                <a:latin typeface="Georgia" pitchFamily="34" charset="0"/>
                <a:ea typeface="Georgia" pitchFamily="34" charset="-122"/>
                <a:cs typeface="Georgia" pitchFamily="34" charset="-120"/>
              </a:rPr>
              <a:t>200×</a:t>
            </a:r>
            <a:endParaRPr lang="en-US" sz="3000" dirty="0"/>
          </a:p>
        </p:txBody>
      </p:sp>
      <p:sp>
        <p:nvSpPr>
          <p:cNvPr id="24" name="Text 21"/>
          <p:cNvSpPr/>
          <p:nvPr/>
        </p:nvSpPr>
        <p:spPr>
          <a:xfrm>
            <a:off x="2514600" y="3584448"/>
            <a:ext cx="192024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corpus scaling tested</a:t>
            </a:r>
            <a:endParaRPr lang="en-US" sz="1100" dirty="0"/>
          </a:p>
        </p:txBody>
      </p:sp>
      <p:sp>
        <p:nvSpPr>
          <p:cNvPr id="25" name="Text 22"/>
          <p:cNvSpPr/>
          <p:nvPr/>
        </p:nvSpPr>
        <p:spPr>
          <a:xfrm>
            <a:off x="2514600" y="3840480"/>
            <a:ext cx="192024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15,012 nodes, 2,400 reports</a:t>
            </a:r>
            <a:endParaRPr lang="en-US" sz="950" dirty="0"/>
          </a:p>
        </p:txBody>
      </p:sp>
      <p:sp>
        <p:nvSpPr>
          <p:cNvPr id="26" name="Text 23"/>
          <p:cNvSpPr/>
          <p:nvPr/>
        </p:nvSpPr>
        <p:spPr>
          <a:xfrm>
            <a:off x="4572000" y="3017520"/>
            <a:ext cx="1920240" cy="566928"/>
          </a:xfrm>
          <a:prstGeom prst="rect">
            <a:avLst/>
          </a:prstGeom>
          <a:noFill/>
          <a:ln/>
        </p:spPr>
        <p:txBody>
          <a:bodyPr wrap="square" lIns="0" tIns="0" rIns="0" bIns="0" rtlCol="0" anchor="ctr"/>
          <a:lstStyle/>
          <a:p>
            <a:pPr indent="0" marL="0">
              <a:buNone/>
            </a:pPr>
            <a:r>
              <a:rPr lang="en-US" sz="3000" b="1" dirty="0">
                <a:solidFill>
                  <a:srgbClr val="1B5E40"/>
                </a:solidFill>
                <a:latin typeface="Georgia" pitchFamily="34" charset="0"/>
                <a:ea typeface="Georgia" pitchFamily="34" charset="-122"/>
                <a:cs typeface="Georgia" pitchFamily="34" charset="-120"/>
              </a:rPr>
              <a:t>185 ms</a:t>
            </a:r>
            <a:endParaRPr lang="en-US" sz="3000" dirty="0"/>
          </a:p>
        </p:txBody>
      </p:sp>
      <p:sp>
        <p:nvSpPr>
          <p:cNvPr id="27" name="Text 24"/>
          <p:cNvSpPr/>
          <p:nvPr/>
        </p:nvSpPr>
        <p:spPr>
          <a:xfrm>
            <a:off x="4572000" y="3584448"/>
            <a:ext cx="192024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retrieval p95 at 200×</a:t>
            </a:r>
            <a:endParaRPr lang="en-US" sz="1100" dirty="0"/>
          </a:p>
        </p:txBody>
      </p:sp>
      <p:sp>
        <p:nvSpPr>
          <p:cNvPr id="28" name="Text 25"/>
          <p:cNvSpPr/>
          <p:nvPr/>
        </p:nvSpPr>
        <p:spPr>
          <a:xfrm>
            <a:off x="4572000" y="3840480"/>
            <a:ext cx="192024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was 14.7 s before the fixes</a:t>
            </a:r>
            <a:endParaRPr lang="en-US" sz="950" dirty="0"/>
          </a:p>
        </p:txBody>
      </p:sp>
      <p:sp>
        <p:nvSpPr>
          <p:cNvPr id="29" name="Text 26"/>
          <p:cNvSpPr/>
          <p:nvPr/>
        </p:nvSpPr>
        <p:spPr>
          <a:xfrm>
            <a:off x="6629400" y="3017520"/>
            <a:ext cx="2057400" cy="566928"/>
          </a:xfrm>
          <a:prstGeom prst="rect">
            <a:avLst/>
          </a:prstGeom>
          <a:noFill/>
          <a:ln/>
        </p:spPr>
        <p:txBody>
          <a:bodyPr wrap="square" lIns="0" tIns="0" rIns="0" bIns="0" rtlCol="0" anchor="ctr"/>
          <a:lstStyle/>
          <a:p>
            <a:pPr indent="0" marL="0">
              <a:buNone/>
            </a:pPr>
            <a:r>
              <a:rPr lang="en-US" sz="3000" b="1" dirty="0">
                <a:solidFill>
                  <a:srgbClr val="9A6700"/>
                </a:solidFill>
                <a:latin typeface="Georgia" pitchFamily="34" charset="0"/>
                <a:ea typeface="Georgia" pitchFamily="34" charset="-122"/>
                <a:cs typeface="Georgia" pitchFamily="34" charset="-120"/>
              </a:rPr>
              <a:t>4</a:t>
            </a:r>
            <a:endParaRPr lang="en-US" sz="3000" dirty="0"/>
          </a:p>
        </p:txBody>
      </p:sp>
      <p:sp>
        <p:nvSpPr>
          <p:cNvPr id="30" name="Text 27"/>
          <p:cNvSpPr/>
          <p:nvPr/>
        </p:nvSpPr>
        <p:spPr>
          <a:xfrm>
            <a:off x="6629400" y="3584448"/>
            <a:ext cx="205740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scalability defects fixed</a:t>
            </a:r>
            <a:endParaRPr lang="en-US" sz="1100" dirty="0"/>
          </a:p>
        </p:txBody>
      </p:sp>
      <p:sp>
        <p:nvSpPr>
          <p:cNvPr id="31" name="Text 28"/>
          <p:cNvSpPr/>
          <p:nvPr/>
        </p:nvSpPr>
        <p:spPr>
          <a:xfrm>
            <a:off x="6629400" y="3840480"/>
            <a:ext cx="205740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found by our own benchmark harness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ARCHITECTURE</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Each store does one job; the API owns policy</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4</a:t>
            </a:r>
            <a:endParaRPr lang="en-US" sz="800" dirty="0"/>
          </a:p>
        </p:txBody>
      </p:sp>
      <p:pic>
        <p:nvPicPr>
          <p:cNvPr id="8" name="Image 0" descr="/Users/shivansh/Desktop/nosql/review3/figures/r3_architecture.png">    </p:cNvPr>
          <p:cNvPicPr>
            <a:picLocks noChangeAspect="1"/>
          </p:cNvPicPr>
          <p:nvPr/>
        </p:nvPicPr>
        <p:blipFill>
          <a:blip r:embed="rId1"/>
          <a:stretch>
            <a:fillRect/>
          </a:stretch>
        </p:blipFill>
        <p:spPr>
          <a:xfrm>
            <a:off x="1454046" y="1188720"/>
            <a:ext cx="6235908" cy="3566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THE DATABASES</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Four real database servers, each in its own console</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5</a:t>
            </a:r>
            <a:endParaRPr lang="en-US" sz="800" dirty="0"/>
          </a:p>
        </p:txBody>
      </p:sp>
      <p:pic>
        <p:nvPicPr>
          <p:cNvPr id="8" name="Image 0" descr="/Users/shivansh/Desktop/nosql/review3/figures/r3_db_consoles.png">    </p:cNvPr>
          <p:cNvPicPr>
            <a:picLocks noChangeAspect="1"/>
          </p:cNvPicPr>
          <p:nvPr/>
        </p:nvPicPr>
        <p:blipFill>
          <a:blip r:embed="rId1"/>
          <a:stretch>
            <a:fillRect/>
          </a:stretch>
        </p:blipFill>
        <p:spPr>
          <a:xfrm>
            <a:off x="671993" y="1143000"/>
            <a:ext cx="5331135" cy="3611880"/>
          </a:xfrm>
          <a:prstGeom prst="rect">
            <a:avLst/>
          </a:prstGeom>
        </p:spPr>
      </p:pic>
      <p:sp>
        <p:nvSpPr>
          <p:cNvPr id="9" name="Shape 5"/>
          <p:cNvSpPr/>
          <p:nvPr/>
        </p:nvSpPr>
        <p:spPr>
          <a:xfrm>
            <a:off x="6400800" y="1234440"/>
            <a:ext cx="2286000" cy="3429000"/>
          </a:xfrm>
          <a:prstGeom prst="rect">
            <a:avLst/>
          </a:prstGeom>
          <a:solidFill>
            <a:srgbClr val="FFFFFF"/>
          </a:solidFill>
          <a:ln w="9525">
            <a:solidFill>
              <a:srgbClr val="DCDCD6"/>
            </a:solidFill>
            <a:prstDash val="solid"/>
          </a:ln>
        </p:spPr>
      </p:sp>
      <p:sp>
        <p:nvSpPr>
          <p:cNvPr id="10" name="Shape 6"/>
          <p:cNvSpPr/>
          <p:nvPr/>
        </p:nvSpPr>
        <p:spPr>
          <a:xfrm>
            <a:off x="6400800" y="1234440"/>
            <a:ext cx="64008" cy="3429000"/>
          </a:xfrm>
          <a:prstGeom prst="rect">
            <a:avLst/>
          </a:prstGeom>
          <a:solidFill>
            <a:srgbClr val="0F2A47"/>
          </a:solidFill>
          <a:ln w="12700">
            <a:solidFill>
              <a:srgbClr val="0F2A47"/>
            </a:solidFill>
            <a:prstDash val="solid"/>
          </a:ln>
        </p:spPr>
      </p:sp>
      <p:sp>
        <p:nvSpPr>
          <p:cNvPr id="11" name="Text 7"/>
          <p:cNvSpPr/>
          <p:nvPr/>
        </p:nvSpPr>
        <p:spPr>
          <a:xfrm>
            <a:off x="6583680" y="1325880"/>
            <a:ext cx="2011680" cy="292608"/>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Open them live</a:t>
            </a:r>
            <a:endParaRPr lang="en-US" sz="1300" dirty="0"/>
          </a:p>
        </p:txBody>
      </p:sp>
      <p:sp>
        <p:nvSpPr>
          <p:cNvPr id="12" name="Text 8"/>
          <p:cNvSpPr/>
          <p:nvPr/>
        </p:nvSpPr>
        <p:spPr>
          <a:xfrm>
            <a:off x="6583680" y="1636776"/>
            <a:ext cx="2011680" cy="295351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Neo4j  :7474</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MongoDB  :8081</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Redis  :8082</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Qdrant  :6333/dashboard</a:t>
            </a:r>
            <a:endParaRPr lang="en-US" sz="1150" dirty="0"/>
          </a:p>
          <a:p>
            <a:pPr indent="0" marL="0">
              <a:spcAft>
                <a:spcPts val="300"/>
              </a:spcAft>
              <a:buNone/>
            </a:pP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make dbui starts the MongoDB and Redis consoles (read-only)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DATA MODEL</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One graph, three join keys</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6</a:t>
            </a:r>
            <a:endParaRPr lang="en-US" sz="800" dirty="0"/>
          </a:p>
        </p:txBody>
      </p:sp>
      <p:pic>
        <p:nvPicPr>
          <p:cNvPr id="8" name="Image 0" descr="/Users/shivansh/Desktop/nosql/review3/figures/r3_graph_schema.png">    </p:cNvPr>
          <p:cNvPicPr>
            <a:picLocks noChangeAspect="1"/>
          </p:cNvPicPr>
          <p:nvPr/>
        </p:nvPicPr>
        <p:blipFill>
          <a:blip r:embed="rId1"/>
          <a:stretch>
            <a:fillRect/>
          </a:stretch>
        </p:blipFill>
        <p:spPr>
          <a:xfrm>
            <a:off x="365760" y="1263015"/>
            <a:ext cx="5394960" cy="3371850"/>
          </a:xfrm>
          <a:prstGeom prst="rect">
            <a:avLst/>
          </a:prstGeom>
        </p:spPr>
      </p:pic>
      <p:sp>
        <p:nvSpPr>
          <p:cNvPr id="9" name="Shape 5"/>
          <p:cNvSpPr/>
          <p:nvPr/>
        </p:nvSpPr>
        <p:spPr>
          <a:xfrm>
            <a:off x="5943600" y="1234440"/>
            <a:ext cx="2743200" cy="3429000"/>
          </a:xfrm>
          <a:prstGeom prst="rect">
            <a:avLst/>
          </a:prstGeom>
          <a:solidFill>
            <a:srgbClr val="FFFFFF"/>
          </a:solidFill>
          <a:ln w="9525">
            <a:solidFill>
              <a:srgbClr val="DCDCD6"/>
            </a:solidFill>
            <a:prstDash val="solid"/>
          </a:ln>
        </p:spPr>
      </p:sp>
      <p:sp>
        <p:nvSpPr>
          <p:cNvPr id="10" name="Shape 6"/>
          <p:cNvSpPr/>
          <p:nvPr/>
        </p:nvSpPr>
        <p:spPr>
          <a:xfrm>
            <a:off x="5943600" y="1234440"/>
            <a:ext cx="64008" cy="3429000"/>
          </a:xfrm>
          <a:prstGeom prst="rect">
            <a:avLst/>
          </a:prstGeom>
          <a:solidFill>
            <a:srgbClr val="0F2A47"/>
          </a:solidFill>
          <a:ln w="12700">
            <a:solidFill>
              <a:srgbClr val="0F2A47"/>
            </a:solidFill>
            <a:prstDash val="solid"/>
          </a:ln>
        </p:spPr>
      </p:sp>
      <p:sp>
        <p:nvSpPr>
          <p:cNvPr id="11" name="Text 7"/>
          <p:cNvSpPr/>
          <p:nvPr/>
        </p:nvSpPr>
        <p:spPr>
          <a:xfrm>
            <a:off x="6126480" y="1325880"/>
            <a:ext cx="2468880" cy="292608"/>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Join keys</a:t>
            </a:r>
            <a:endParaRPr lang="en-US" sz="1300" dirty="0"/>
          </a:p>
        </p:txBody>
      </p:sp>
      <p:sp>
        <p:nvSpPr>
          <p:cNvPr id="12" name="Text 8"/>
          <p:cNvSpPr/>
          <p:nvPr/>
        </p:nvSpPr>
        <p:spPr>
          <a:xfrm>
            <a:off x="6126480" y="1636776"/>
            <a:ext cx="2468880" cy="295351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Report.id = MongoDB _id = Qdrant report_id</a:t>
            </a:r>
            <a:endParaRPr lang="en-US" sz="1100" dirty="0"/>
          </a:p>
          <a:p>
            <a:pPr indent="0" marL="0">
              <a:spcAft>
                <a:spcPts val="300"/>
              </a:spcAft>
              <a:buNone/>
            </a:pP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Indicator (type, value) = Redis key ioc:{type}:{value}</a:t>
            </a:r>
            <a:endParaRPr lang="en-US" sz="1100" dirty="0"/>
          </a:p>
          <a:p>
            <a:pPr indent="0" marL="0">
              <a:spcAft>
                <a:spcPts val="300"/>
              </a:spcAft>
              <a:buNone/>
            </a:pP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Indicators stay in the graph after their TTL: enforcement and history can disagree (UC4).</a:t>
            </a:r>
            <a:endParaRPr lang="en-US" sz="1100" dirty="0"/>
          </a:p>
          <a:p>
            <a:pPr indent="0" marL="0">
              <a:spcAft>
                <a:spcPts val="300"/>
              </a:spcAft>
              <a:buNone/>
            </a:pP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Integrity check: 3 hard + 2 informational cross-store rules.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GRAPHRAG</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Four-channel retrieval, a local LLM, and a gate</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7</a:t>
            </a:r>
            <a:endParaRPr lang="en-US" sz="800" dirty="0"/>
          </a:p>
        </p:txBody>
      </p:sp>
      <p:pic>
        <p:nvPicPr>
          <p:cNvPr id="8" name="Image 0" descr="/Users/shivansh/Desktop/nosql/review3/figures/r3_answer_path.png">    </p:cNvPr>
          <p:cNvPicPr>
            <a:picLocks noChangeAspect="1"/>
          </p:cNvPicPr>
          <p:nvPr/>
        </p:nvPicPr>
        <p:blipFill>
          <a:blip r:embed="rId1"/>
          <a:stretch>
            <a:fillRect/>
          </a:stretch>
        </p:blipFill>
        <p:spPr>
          <a:xfrm>
            <a:off x="1361440" y="1170432"/>
            <a:ext cx="6421120" cy="3611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LIVE SYSTEM</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Every sentence is cited and every hop is visible</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8</a:t>
            </a:r>
            <a:endParaRPr lang="en-US" sz="800" dirty="0"/>
          </a:p>
        </p:txBody>
      </p:sp>
      <p:pic>
        <p:nvPicPr>
          <p:cNvPr id="8" name="Image 0" descr="/Users/shivansh/Desktop/nosql/review3/screenshots/graphrag_answer.png">    </p:cNvPr>
          <p:cNvPicPr>
            <a:picLocks noChangeAspect="1"/>
          </p:cNvPicPr>
          <p:nvPr/>
        </p:nvPicPr>
        <p:blipFill>
          <a:blip r:embed="rId1"/>
          <a:stretch>
            <a:fillRect/>
          </a:stretch>
        </p:blipFill>
        <p:spPr>
          <a:xfrm>
            <a:off x="493776" y="1170432"/>
            <a:ext cx="5779008" cy="3611880"/>
          </a:xfrm>
          <a:prstGeom prst="rect">
            <a:avLst/>
          </a:prstGeom>
        </p:spPr>
      </p:pic>
      <p:sp>
        <p:nvSpPr>
          <p:cNvPr id="9" name="Shape 5"/>
          <p:cNvSpPr/>
          <p:nvPr/>
        </p:nvSpPr>
        <p:spPr>
          <a:xfrm>
            <a:off x="6492240" y="1234440"/>
            <a:ext cx="2194560" cy="3474720"/>
          </a:xfrm>
          <a:prstGeom prst="rect">
            <a:avLst/>
          </a:prstGeom>
          <a:solidFill>
            <a:srgbClr val="FFFFFF"/>
          </a:solidFill>
          <a:ln w="9525">
            <a:solidFill>
              <a:srgbClr val="DCDCD6"/>
            </a:solidFill>
            <a:prstDash val="solid"/>
          </a:ln>
        </p:spPr>
      </p:sp>
      <p:sp>
        <p:nvSpPr>
          <p:cNvPr id="10" name="Shape 6"/>
          <p:cNvSpPr/>
          <p:nvPr/>
        </p:nvSpPr>
        <p:spPr>
          <a:xfrm>
            <a:off x="6492240" y="1234440"/>
            <a:ext cx="64008" cy="3474720"/>
          </a:xfrm>
          <a:prstGeom prst="rect">
            <a:avLst/>
          </a:prstGeom>
          <a:solidFill>
            <a:srgbClr val="1B5E40"/>
          </a:solidFill>
          <a:ln w="12700">
            <a:solidFill>
              <a:srgbClr val="1B5E40"/>
            </a:solidFill>
            <a:prstDash val="solid"/>
          </a:ln>
        </p:spPr>
      </p:sp>
      <p:sp>
        <p:nvSpPr>
          <p:cNvPr id="11" name="Text 7"/>
          <p:cNvSpPr/>
          <p:nvPr/>
        </p:nvSpPr>
        <p:spPr>
          <a:xfrm>
            <a:off x="6675120" y="1325880"/>
            <a:ext cx="1920240" cy="292608"/>
          </a:xfrm>
          <a:prstGeom prst="rect">
            <a:avLst/>
          </a:prstGeom>
          <a:noFill/>
          <a:ln/>
        </p:spPr>
        <p:txBody>
          <a:bodyPr wrap="square" lIns="0" tIns="0" rIns="0" bIns="0" rtlCol="0" anchor="ctr"/>
          <a:lstStyle/>
          <a:p>
            <a:pPr indent="0" marL="0">
              <a:buNone/>
            </a:pPr>
            <a:r>
              <a:rPr lang="en-US" sz="1300" b="1" dirty="0">
                <a:solidFill>
                  <a:srgbClr val="1B5E40"/>
                </a:solidFill>
                <a:latin typeface="Calibri" pitchFamily="34" charset="0"/>
                <a:ea typeface="Calibri" pitchFamily="34" charset="-122"/>
                <a:cs typeface="Calibri" pitchFamily="34" charset="-120"/>
              </a:rPr>
              <a:t>Reading an answer</a:t>
            </a:r>
            <a:endParaRPr lang="en-US" sz="1300" dirty="0"/>
          </a:p>
        </p:txBody>
      </p:sp>
      <p:sp>
        <p:nvSpPr>
          <p:cNvPr id="12" name="Text 8"/>
          <p:cNvSpPr/>
          <p:nvPr/>
        </p:nvSpPr>
        <p:spPr>
          <a:xfrm>
            <a:off x="6675120" y="1636776"/>
            <a:ext cx="1920240" cy="2999232"/>
          </a:xfrm>
          <a:prstGeom prst="rect">
            <a:avLst/>
          </a:prstGeom>
          <a:noFill/>
          <a:ln/>
        </p:spPr>
        <p:txBody>
          <a:bodyPr wrap="square" lIns="0" tIns="0" rIns="0" bIns="0" rtlCol="0" anchor="t"/>
          <a:lstStyle/>
          <a:p>
            <a:pPr indent="0" marL="0">
              <a:spcAft>
                <a:spcPts val="300"/>
              </a:spcAft>
              <a:buNone/>
            </a:pPr>
            <a:r>
              <a:rPr lang="en-US" sz="1050" dirty="0">
                <a:solidFill>
                  <a:srgbClr val="1A1F26"/>
                </a:solidFill>
                <a:latin typeface="Calibri" pitchFamily="34" charset="0"/>
                <a:ea typeface="Calibri" pitchFamily="34" charset="-122"/>
                <a:cs typeface="Calibri" pitchFamily="34" charset="-120"/>
              </a:rPr>
              <a:t>llm / retrieve-only mode</a:t>
            </a:r>
            <a:endParaRPr lang="en-US" sz="1050" dirty="0"/>
          </a:p>
          <a:p>
            <a:pPr indent="0" marL="0">
              <a:spcAft>
                <a:spcPts val="300"/>
              </a:spcAft>
              <a:buNone/>
            </a:pPr>
            <a:r>
              <a:rPr lang="en-US" sz="1050" dirty="0">
                <a:solidFill>
                  <a:srgbClr val="1A1F26"/>
                </a:solidFill>
                <a:latin typeface="Calibri" pitchFamily="34" charset="0"/>
                <a:ea typeface="Calibri" pitchFamily="34" charset="-122"/>
                <a:cs typeface="Calibri" pitchFamily="34" charset="-120"/>
              </a:rPr>
              <a:t>TLP label of the cited reports</a:t>
            </a:r>
            <a:endParaRPr lang="en-US" sz="1050" dirty="0"/>
          </a:p>
          <a:p>
            <a:pPr indent="0" marL="0">
              <a:spcAft>
                <a:spcPts val="300"/>
              </a:spcAft>
              <a:buNone/>
            </a:pPr>
            <a:r>
              <a:rPr lang="en-US" sz="1050" dirty="0">
                <a:solidFill>
                  <a:srgbClr val="1A1F26"/>
                </a:solidFill>
                <a:latin typeface="Calibri" pitchFamily="34" charset="0"/>
                <a:ea typeface="Calibri" pitchFamily="34" charset="-122"/>
                <a:cs typeface="Calibri" pitchFamily="34" charset="-120"/>
              </a:rPr>
              <a:t>citation coverage</a:t>
            </a:r>
            <a:endParaRPr lang="en-US" sz="1050" dirty="0"/>
          </a:p>
          <a:p>
            <a:pPr indent="0" marL="0">
              <a:spcAft>
                <a:spcPts val="300"/>
              </a:spcAft>
              <a:buNone/>
            </a:pPr>
            <a:r>
              <a:rPr lang="en-US" sz="1050" dirty="0">
                <a:solidFill>
                  <a:srgbClr val="1A1F26"/>
                </a:solidFill>
                <a:latin typeface="Calibri" pitchFamily="34" charset="0"/>
                <a:ea typeface="Calibri" pitchFamily="34" charset="-122"/>
                <a:cs typeface="Calibri" pitchFamily="34" charset="-120"/>
              </a:rPr>
              <a:t>G · C · R · I citation chips</a:t>
            </a:r>
            <a:endParaRPr lang="en-US" sz="1050" dirty="0"/>
          </a:p>
          <a:p>
            <a:pPr indent="0" marL="0">
              <a:spcAft>
                <a:spcPts val="300"/>
              </a:spcAft>
              <a:buNone/>
            </a:pPr>
            <a:r>
              <a:rPr lang="en-US" sz="1050" dirty="0">
                <a:solidFill>
                  <a:srgbClr val="1A1F26"/>
                </a:solidFill>
                <a:latin typeface="Calibri" pitchFamily="34" charset="0"/>
                <a:ea typeface="Calibri" pitchFamily="34" charset="-122"/>
                <a:cs typeface="Calibri" pitchFamily="34" charset="-120"/>
              </a:rPr>
              <a:t>⚠ commodity-tool caution</a:t>
            </a:r>
            <a:endParaRPr lang="en-US" sz="1050" dirty="0"/>
          </a:p>
          <a:p>
            <a:pPr indent="0" marL="0">
              <a:spcAft>
                <a:spcPts val="300"/>
              </a:spcAft>
              <a:buNone/>
            </a:pPr>
            <a:r>
              <a:rPr lang="en-US" sz="1050" dirty="0">
                <a:solidFill>
                  <a:srgbClr val="1A1F26"/>
                </a:solidFill>
                <a:latin typeface="Calibri" pitchFamily="34" charset="0"/>
                <a:ea typeface="Calibri" pitchFamily="34" charset="-122"/>
                <a:cs typeface="Calibri" pitchFamily="34" charset="-120"/>
              </a:rPr>
              <a:t>evidence: hops, chunks, documents, IOC state, latency</a:t>
            </a:r>
            <a:endParaRPr lang="en-US" sz="1050" dirty="0"/>
          </a:p>
          <a:p>
            <a:pPr indent="0" marL="0">
              <a:spcAft>
                <a:spcPts val="300"/>
              </a:spcAft>
              <a:buNone/>
            </a:pPr>
            <a:r>
              <a:rPr lang="en-US" sz="1050" dirty="0">
                <a:solidFill>
                  <a:srgbClr val="1A1F26"/>
                </a:solidFill>
                <a:latin typeface="Calibri" pitchFamily="34" charset="0"/>
                <a:ea typeface="Calibri" pitchFamily="34" charset="-122"/>
                <a:cs typeface="Calibri" pitchFamily="34" charset="-120"/>
              </a:rPr>
              <a:t>audit link → replay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INNOVATION</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What is new in this design</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9</a:t>
            </a:r>
            <a:endParaRPr lang="en-US" sz="800" dirty="0"/>
          </a:p>
        </p:txBody>
      </p:sp>
      <p:sp>
        <p:nvSpPr>
          <p:cNvPr id="8" name="Shape 5"/>
          <p:cNvSpPr/>
          <p:nvPr/>
        </p:nvSpPr>
        <p:spPr>
          <a:xfrm>
            <a:off x="457200" y="1280160"/>
            <a:ext cx="1920240" cy="1554480"/>
          </a:xfrm>
          <a:prstGeom prst="rect">
            <a:avLst/>
          </a:prstGeom>
          <a:solidFill>
            <a:srgbClr val="FFFFFF"/>
          </a:solidFill>
          <a:ln w="9525">
            <a:solidFill>
              <a:srgbClr val="DCDCD6"/>
            </a:solidFill>
            <a:prstDash val="solid"/>
          </a:ln>
        </p:spPr>
      </p:sp>
      <p:sp>
        <p:nvSpPr>
          <p:cNvPr id="9" name="Shape 6"/>
          <p:cNvSpPr/>
          <p:nvPr/>
        </p:nvSpPr>
        <p:spPr>
          <a:xfrm>
            <a:off x="457200" y="1280160"/>
            <a:ext cx="64008" cy="1554480"/>
          </a:xfrm>
          <a:prstGeom prst="rect">
            <a:avLst/>
          </a:prstGeom>
          <a:solidFill>
            <a:srgbClr val="1F4E79"/>
          </a:solidFill>
          <a:ln w="12700">
            <a:solidFill>
              <a:srgbClr val="1F4E79"/>
            </a:solidFill>
            <a:prstDash val="solid"/>
          </a:ln>
        </p:spPr>
      </p:sp>
      <p:sp>
        <p:nvSpPr>
          <p:cNvPr id="10" name="Text 7"/>
          <p:cNvSpPr/>
          <p:nvPr/>
        </p:nvSpPr>
        <p:spPr>
          <a:xfrm>
            <a:off x="640080" y="1371600"/>
            <a:ext cx="1645920" cy="292608"/>
          </a:xfrm>
          <a:prstGeom prst="rect">
            <a:avLst/>
          </a:prstGeom>
          <a:noFill/>
          <a:ln/>
        </p:spPr>
        <p:txBody>
          <a:bodyPr wrap="square" lIns="0" tIns="0" rIns="0" bIns="0" rtlCol="0" anchor="ctr"/>
          <a:lstStyle/>
          <a:p>
            <a:pPr indent="0" marL="0">
              <a:buNone/>
            </a:pPr>
            <a:r>
              <a:rPr lang="en-US" sz="1250" b="1" dirty="0">
                <a:solidFill>
                  <a:srgbClr val="1F4E79"/>
                </a:solidFill>
                <a:latin typeface="Calibri" pitchFamily="34" charset="0"/>
                <a:ea typeface="Calibri" pitchFamily="34" charset="-122"/>
                <a:cs typeface="Calibri" pitchFamily="34" charset="-120"/>
              </a:rPr>
              <a:t>Four-store GraphRAG</a:t>
            </a:r>
            <a:endParaRPr lang="en-US" sz="1250" dirty="0"/>
          </a:p>
        </p:txBody>
      </p:sp>
      <p:sp>
        <p:nvSpPr>
          <p:cNvPr id="11" name="Text 8"/>
          <p:cNvSpPr/>
          <p:nvPr/>
        </p:nvSpPr>
        <p:spPr>
          <a:xfrm>
            <a:off x="640080" y="168249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typed citations across graph, documents, vectors and cache</a:t>
            </a:r>
            <a:endParaRPr lang="en-US" sz="1100" dirty="0"/>
          </a:p>
        </p:txBody>
      </p:sp>
      <p:sp>
        <p:nvSpPr>
          <p:cNvPr id="12" name="Shape 9"/>
          <p:cNvSpPr/>
          <p:nvPr/>
        </p:nvSpPr>
        <p:spPr>
          <a:xfrm>
            <a:off x="2532888" y="1280160"/>
            <a:ext cx="1920240" cy="1554480"/>
          </a:xfrm>
          <a:prstGeom prst="rect">
            <a:avLst/>
          </a:prstGeom>
          <a:solidFill>
            <a:srgbClr val="FFFFFF"/>
          </a:solidFill>
          <a:ln w="9525">
            <a:solidFill>
              <a:srgbClr val="DCDCD6"/>
            </a:solidFill>
            <a:prstDash val="solid"/>
          </a:ln>
        </p:spPr>
      </p:sp>
      <p:sp>
        <p:nvSpPr>
          <p:cNvPr id="13" name="Shape 10"/>
          <p:cNvSpPr/>
          <p:nvPr/>
        </p:nvSpPr>
        <p:spPr>
          <a:xfrm>
            <a:off x="2532888" y="1280160"/>
            <a:ext cx="64008" cy="1554480"/>
          </a:xfrm>
          <a:prstGeom prst="rect">
            <a:avLst/>
          </a:prstGeom>
          <a:solidFill>
            <a:srgbClr val="7A2A2A"/>
          </a:solidFill>
          <a:ln w="12700">
            <a:solidFill>
              <a:srgbClr val="7A2A2A"/>
            </a:solidFill>
            <a:prstDash val="solid"/>
          </a:ln>
        </p:spPr>
      </p:sp>
      <p:sp>
        <p:nvSpPr>
          <p:cNvPr id="14" name="Text 11"/>
          <p:cNvSpPr/>
          <p:nvPr/>
        </p:nvSpPr>
        <p:spPr>
          <a:xfrm>
            <a:off x="2715768" y="1371600"/>
            <a:ext cx="1645920" cy="292608"/>
          </a:xfrm>
          <a:prstGeom prst="rect">
            <a:avLst/>
          </a:prstGeom>
          <a:noFill/>
          <a:ln/>
        </p:spPr>
        <p:txBody>
          <a:bodyPr wrap="square" lIns="0" tIns="0" rIns="0" bIns="0" rtlCol="0" anchor="ctr"/>
          <a:lstStyle/>
          <a:p>
            <a:pPr indent="0" marL="0">
              <a:buNone/>
            </a:pPr>
            <a:r>
              <a:rPr lang="en-US" sz="1250" b="1" dirty="0">
                <a:solidFill>
                  <a:srgbClr val="7A2A2A"/>
                </a:solidFill>
                <a:latin typeface="Calibri" pitchFamily="34" charset="0"/>
                <a:ea typeface="Calibri" pitchFamily="34" charset="-122"/>
                <a:cs typeface="Calibri" pitchFamily="34" charset="-120"/>
              </a:rPr>
              <a:t>Groundedness gate</a:t>
            </a:r>
            <a:endParaRPr lang="en-US" sz="1250" dirty="0"/>
          </a:p>
        </p:txBody>
      </p:sp>
      <p:sp>
        <p:nvSpPr>
          <p:cNvPr id="15" name="Text 12"/>
          <p:cNvSpPr/>
          <p:nvPr/>
        </p:nvSpPr>
        <p:spPr>
          <a:xfrm>
            <a:off x="2715768" y="168249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uncited sentences removed; refusal + evidence-only fallback</a:t>
            </a:r>
            <a:endParaRPr lang="en-US" sz="1100" dirty="0"/>
          </a:p>
        </p:txBody>
      </p:sp>
      <p:sp>
        <p:nvSpPr>
          <p:cNvPr id="16" name="Shape 13"/>
          <p:cNvSpPr/>
          <p:nvPr/>
        </p:nvSpPr>
        <p:spPr>
          <a:xfrm>
            <a:off x="4608576" y="1280160"/>
            <a:ext cx="1920240" cy="1554480"/>
          </a:xfrm>
          <a:prstGeom prst="rect">
            <a:avLst/>
          </a:prstGeom>
          <a:solidFill>
            <a:srgbClr val="FFFFFF"/>
          </a:solidFill>
          <a:ln w="9525">
            <a:solidFill>
              <a:srgbClr val="DCDCD6"/>
            </a:solidFill>
            <a:prstDash val="solid"/>
          </a:ln>
        </p:spPr>
      </p:sp>
      <p:sp>
        <p:nvSpPr>
          <p:cNvPr id="17" name="Shape 14"/>
          <p:cNvSpPr/>
          <p:nvPr/>
        </p:nvSpPr>
        <p:spPr>
          <a:xfrm>
            <a:off x="4608576" y="1280160"/>
            <a:ext cx="64008" cy="1554480"/>
          </a:xfrm>
          <a:prstGeom prst="rect">
            <a:avLst/>
          </a:prstGeom>
          <a:solidFill>
            <a:srgbClr val="0E5A66"/>
          </a:solidFill>
          <a:ln w="12700">
            <a:solidFill>
              <a:srgbClr val="0E5A66"/>
            </a:solidFill>
            <a:prstDash val="solid"/>
          </a:ln>
        </p:spPr>
      </p:sp>
      <p:sp>
        <p:nvSpPr>
          <p:cNvPr id="18" name="Text 15"/>
          <p:cNvSpPr/>
          <p:nvPr/>
        </p:nvSpPr>
        <p:spPr>
          <a:xfrm>
            <a:off x="4791456" y="1371600"/>
            <a:ext cx="1645920" cy="292608"/>
          </a:xfrm>
          <a:prstGeom prst="rect">
            <a:avLst/>
          </a:prstGeom>
          <a:noFill/>
          <a:ln/>
        </p:spPr>
        <p:txBody>
          <a:bodyPr wrap="square" lIns="0" tIns="0" rIns="0" bIns="0" rtlCol="0" anchor="ctr"/>
          <a:lstStyle/>
          <a:p>
            <a:pPr indent="0" marL="0">
              <a:buNone/>
            </a:pPr>
            <a:r>
              <a:rPr lang="en-US" sz="1250" b="1" dirty="0">
                <a:solidFill>
                  <a:srgbClr val="0E5A66"/>
                </a:solidFill>
                <a:latin typeface="Calibri" pitchFamily="34" charset="0"/>
                <a:ea typeface="Calibri" pitchFamily="34" charset="-122"/>
                <a:cs typeface="Calibri" pitchFamily="34" charset="-120"/>
              </a:rPr>
              <a:t>Hub-aware traversal</a:t>
            </a:r>
            <a:endParaRPr lang="en-US" sz="1250" dirty="0"/>
          </a:p>
        </p:txBody>
      </p:sp>
      <p:sp>
        <p:nvSpPr>
          <p:cNvPr id="19" name="Text 16"/>
          <p:cNvSpPr/>
          <p:nvPr/>
        </p:nvSpPr>
        <p:spPr>
          <a:xfrm>
            <a:off x="4791456" y="168249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stops at commodity tools; weak-attribution caution</a:t>
            </a:r>
            <a:endParaRPr lang="en-US" sz="1100" dirty="0"/>
          </a:p>
        </p:txBody>
      </p:sp>
      <p:sp>
        <p:nvSpPr>
          <p:cNvPr id="20" name="Shape 17"/>
          <p:cNvSpPr/>
          <p:nvPr/>
        </p:nvSpPr>
        <p:spPr>
          <a:xfrm>
            <a:off x="6684264" y="1280160"/>
            <a:ext cx="1920240" cy="1554480"/>
          </a:xfrm>
          <a:prstGeom prst="rect">
            <a:avLst/>
          </a:prstGeom>
          <a:solidFill>
            <a:srgbClr val="FFFFFF"/>
          </a:solidFill>
          <a:ln w="9525">
            <a:solidFill>
              <a:srgbClr val="DCDCD6"/>
            </a:solidFill>
            <a:prstDash val="solid"/>
          </a:ln>
        </p:spPr>
      </p:sp>
      <p:sp>
        <p:nvSpPr>
          <p:cNvPr id="21" name="Shape 18"/>
          <p:cNvSpPr/>
          <p:nvPr/>
        </p:nvSpPr>
        <p:spPr>
          <a:xfrm>
            <a:off x="6684264" y="1280160"/>
            <a:ext cx="64008" cy="1554480"/>
          </a:xfrm>
          <a:prstGeom prst="rect">
            <a:avLst/>
          </a:prstGeom>
          <a:solidFill>
            <a:srgbClr val="48306B"/>
          </a:solidFill>
          <a:ln w="12700">
            <a:solidFill>
              <a:srgbClr val="48306B"/>
            </a:solidFill>
            <a:prstDash val="solid"/>
          </a:ln>
        </p:spPr>
      </p:sp>
      <p:sp>
        <p:nvSpPr>
          <p:cNvPr id="22" name="Text 19"/>
          <p:cNvSpPr/>
          <p:nvPr/>
        </p:nvSpPr>
        <p:spPr>
          <a:xfrm>
            <a:off x="6867144" y="1371600"/>
            <a:ext cx="1645920" cy="292608"/>
          </a:xfrm>
          <a:prstGeom prst="rect">
            <a:avLst/>
          </a:prstGeom>
          <a:noFill/>
          <a:ln/>
        </p:spPr>
        <p:txBody>
          <a:bodyPr wrap="square" lIns="0" tIns="0" rIns="0" bIns="0" rtlCol="0" anchor="ctr"/>
          <a:lstStyle/>
          <a:p>
            <a:pPr indent="0" marL="0">
              <a:buNone/>
            </a:pPr>
            <a:r>
              <a:rPr lang="en-US" sz="1250" b="1" dirty="0">
                <a:solidFill>
                  <a:srgbClr val="48306B"/>
                </a:solidFill>
                <a:latin typeface="Calibri" pitchFamily="34" charset="0"/>
                <a:ea typeface="Calibri" pitchFamily="34" charset="-122"/>
                <a:cs typeface="Calibri" pitchFamily="34" charset="-120"/>
              </a:rPr>
              <a:t>TLP inside retrieval</a:t>
            </a:r>
            <a:endParaRPr lang="en-US" sz="1250" dirty="0"/>
          </a:p>
        </p:txBody>
      </p:sp>
      <p:sp>
        <p:nvSpPr>
          <p:cNvPr id="23" name="Text 20"/>
          <p:cNvSpPr/>
          <p:nvPr/>
        </p:nvSpPr>
        <p:spPr>
          <a:xfrm>
            <a:off x="6867144" y="168249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payload filter, $in filter, graph filter; answers labelled</a:t>
            </a:r>
            <a:endParaRPr lang="en-US" sz="1100" dirty="0"/>
          </a:p>
        </p:txBody>
      </p:sp>
      <p:sp>
        <p:nvSpPr>
          <p:cNvPr id="24" name="Shape 21"/>
          <p:cNvSpPr/>
          <p:nvPr/>
        </p:nvSpPr>
        <p:spPr>
          <a:xfrm>
            <a:off x="457200" y="3017520"/>
            <a:ext cx="1920240" cy="1554480"/>
          </a:xfrm>
          <a:prstGeom prst="rect">
            <a:avLst/>
          </a:prstGeom>
          <a:solidFill>
            <a:srgbClr val="FFFFFF"/>
          </a:solidFill>
          <a:ln w="9525">
            <a:solidFill>
              <a:srgbClr val="DCDCD6"/>
            </a:solidFill>
            <a:prstDash val="solid"/>
          </a:ln>
        </p:spPr>
      </p:sp>
      <p:sp>
        <p:nvSpPr>
          <p:cNvPr id="25" name="Shape 22"/>
          <p:cNvSpPr/>
          <p:nvPr/>
        </p:nvSpPr>
        <p:spPr>
          <a:xfrm>
            <a:off x="457200" y="3017520"/>
            <a:ext cx="64008" cy="1554480"/>
          </a:xfrm>
          <a:prstGeom prst="rect">
            <a:avLst/>
          </a:prstGeom>
          <a:solidFill>
            <a:srgbClr val="7A2A2A"/>
          </a:solidFill>
          <a:ln w="12700">
            <a:solidFill>
              <a:srgbClr val="7A2A2A"/>
            </a:solidFill>
            <a:prstDash val="solid"/>
          </a:ln>
        </p:spPr>
      </p:sp>
      <p:sp>
        <p:nvSpPr>
          <p:cNvPr id="26" name="Text 23"/>
          <p:cNvSpPr/>
          <p:nvPr/>
        </p:nvSpPr>
        <p:spPr>
          <a:xfrm>
            <a:off x="640080" y="3108960"/>
            <a:ext cx="1645920" cy="292608"/>
          </a:xfrm>
          <a:prstGeom prst="rect">
            <a:avLst/>
          </a:prstGeom>
          <a:noFill/>
          <a:ln/>
        </p:spPr>
        <p:txBody>
          <a:bodyPr wrap="square" lIns="0" tIns="0" rIns="0" bIns="0" rtlCol="0" anchor="ctr"/>
          <a:lstStyle/>
          <a:p>
            <a:pPr indent="0" marL="0">
              <a:buNone/>
            </a:pPr>
            <a:r>
              <a:rPr lang="en-US" sz="1250" b="1" dirty="0">
                <a:solidFill>
                  <a:srgbClr val="7A2A2A"/>
                </a:solidFill>
                <a:latin typeface="Calibri" pitchFamily="34" charset="0"/>
                <a:ea typeface="Calibri" pitchFamily="34" charset="-122"/>
                <a:cs typeface="Calibri" pitchFamily="34" charset="-120"/>
              </a:rPr>
              <a:t>Fail-closed enforcement</a:t>
            </a:r>
            <a:endParaRPr lang="en-US" sz="1250" dirty="0"/>
          </a:p>
        </p:txBody>
      </p:sp>
      <p:sp>
        <p:nvSpPr>
          <p:cNvPr id="27" name="Text 24"/>
          <p:cNvSpPr/>
          <p:nvPr/>
        </p:nvSpPr>
        <p:spPr>
          <a:xfrm>
            <a:off x="640080" y="341985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Redis-only API; 503 blocked:true when Redis is down</a:t>
            </a:r>
            <a:endParaRPr lang="en-US" sz="1100" dirty="0"/>
          </a:p>
        </p:txBody>
      </p:sp>
      <p:sp>
        <p:nvSpPr>
          <p:cNvPr id="28" name="Shape 25"/>
          <p:cNvSpPr/>
          <p:nvPr/>
        </p:nvSpPr>
        <p:spPr>
          <a:xfrm>
            <a:off x="2532888" y="3017520"/>
            <a:ext cx="1920240" cy="1554480"/>
          </a:xfrm>
          <a:prstGeom prst="rect">
            <a:avLst/>
          </a:prstGeom>
          <a:solidFill>
            <a:srgbClr val="FFFFFF"/>
          </a:solidFill>
          <a:ln w="9525">
            <a:solidFill>
              <a:srgbClr val="DCDCD6"/>
            </a:solidFill>
            <a:prstDash val="solid"/>
          </a:ln>
        </p:spPr>
      </p:sp>
      <p:sp>
        <p:nvSpPr>
          <p:cNvPr id="29" name="Shape 26"/>
          <p:cNvSpPr/>
          <p:nvPr/>
        </p:nvSpPr>
        <p:spPr>
          <a:xfrm>
            <a:off x="2532888" y="3017520"/>
            <a:ext cx="64008" cy="1554480"/>
          </a:xfrm>
          <a:prstGeom prst="rect">
            <a:avLst/>
          </a:prstGeom>
          <a:solidFill>
            <a:srgbClr val="0E5A66"/>
          </a:solidFill>
          <a:ln w="12700">
            <a:solidFill>
              <a:srgbClr val="0E5A66"/>
            </a:solidFill>
            <a:prstDash val="solid"/>
          </a:ln>
        </p:spPr>
      </p:sp>
      <p:sp>
        <p:nvSpPr>
          <p:cNvPr id="30" name="Text 27"/>
          <p:cNvSpPr/>
          <p:nvPr/>
        </p:nvSpPr>
        <p:spPr>
          <a:xfrm>
            <a:off x="2715768" y="3108960"/>
            <a:ext cx="1645920" cy="292608"/>
          </a:xfrm>
          <a:prstGeom prst="rect">
            <a:avLst/>
          </a:prstGeom>
          <a:noFill/>
          <a:ln/>
        </p:spPr>
        <p:txBody>
          <a:bodyPr wrap="square" lIns="0" tIns="0" rIns="0" bIns="0" rtlCol="0" anchor="ctr"/>
          <a:lstStyle/>
          <a:p>
            <a:pPr indent="0" marL="0">
              <a:buNone/>
            </a:pPr>
            <a:r>
              <a:rPr lang="en-US" sz="1250" b="1" dirty="0">
                <a:solidFill>
                  <a:srgbClr val="0E5A66"/>
                </a:solidFill>
                <a:latin typeface="Calibri" pitchFamily="34" charset="0"/>
                <a:ea typeface="Calibri" pitchFamily="34" charset="-122"/>
                <a:cs typeface="Calibri" pitchFamily="34" charset="-120"/>
              </a:rPr>
              <a:t>Replayable answers</a:t>
            </a:r>
            <a:endParaRPr lang="en-US" sz="1250" dirty="0"/>
          </a:p>
        </p:txBody>
      </p:sp>
      <p:sp>
        <p:nvSpPr>
          <p:cNvPr id="31" name="Text 28"/>
          <p:cNvSpPr/>
          <p:nvPr/>
        </p:nvSpPr>
        <p:spPr>
          <a:xfrm>
            <a:off x="2715768" y="341985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re-verify every hop, chunk and IOC weeks later</a:t>
            </a:r>
            <a:endParaRPr lang="en-US" sz="1100" dirty="0"/>
          </a:p>
        </p:txBody>
      </p:sp>
      <p:sp>
        <p:nvSpPr>
          <p:cNvPr id="32" name="Shape 29"/>
          <p:cNvSpPr/>
          <p:nvPr/>
        </p:nvSpPr>
        <p:spPr>
          <a:xfrm>
            <a:off x="4608576" y="3017520"/>
            <a:ext cx="1920240" cy="1554480"/>
          </a:xfrm>
          <a:prstGeom prst="rect">
            <a:avLst/>
          </a:prstGeom>
          <a:solidFill>
            <a:srgbClr val="FFFFFF"/>
          </a:solidFill>
          <a:ln w="9525">
            <a:solidFill>
              <a:srgbClr val="DCDCD6"/>
            </a:solidFill>
            <a:prstDash val="solid"/>
          </a:ln>
        </p:spPr>
      </p:sp>
      <p:sp>
        <p:nvSpPr>
          <p:cNvPr id="33" name="Shape 30"/>
          <p:cNvSpPr/>
          <p:nvPr/>
        </p:nvSpPr>
        <p:spPr>
          <a:xfrm>
            <a:off x="4608576" y="3017520"/>
            <a:ext cx="64008" cy="1554480"/>
          </a:xfrm>
          <a:prstGeom prst="rect">
            <a:avLst/>
          </a:prstGeom>
          <a:solidFill>
            <a:srgbClr val="1B5E40"/>
          </a:solidFill>
          <a:ln w="12700">
            <a:solidFill>
              <a:srgbClr val="1B5E40"/>
            </a:solidFill>
            <a:prstDash val="solid"/>
          </a:ln>
        </p:spPr>
      </p:sp>
      <p:sp>
        <p:nvSpPr>
          <p:cNvPr id="34" name="Text 31"/>
          <p:cNvSpPr/>
          <p:nvPr/>
        </p:nvSpPr>
        <p:spPr>
          <a:xfrm>
            <a:off x="4791456" y="3108960"/>
            <a:ext cx="1645920" cy="292608"/>
          </a:xfrm>
          <a:prstGeom prst="rect">
            <a:avLst/>
          </a:prstGeom>
          <a:noFill/>
          <a:ln/>
        </p:spPr>
        <p:txBody>
          <a:bodyPr wrap="square" lIns="0" tIns="0" rIns="0" bIns="0" rtlCol="0" anchor="ctr"/>
          <a:lstStyle/>
          <a:p>
            <a:pPr indent="0" marL="0">
              <a:buNone/>
            </a:pPr>
            <a:r>
              <a:rPr lang="en-US" sz="1250" b="1" dirty="0">
                <a:solidFill>
                  <a:srgbClr val="1B5E40"/>
                </a:solidFill>
                <a:latin typeface="Calibri" pitchFamily="34" charset="0"/>
                <a:ea typeface="Calibri" pitchFamily="34" charset="-122"/>
                <a:cs typeface="Calibri" pitchFamily="34" charset="-120"/>
              </a:rPr>
              <a:t>Local AI, prompt budget</a:t>
            </a:r>
            <a:endParaRPr lang="en-US" sz="1250" dirty="0"/>
          </a:p>
        </p:txBody>
      </p:sp>
      <p:sp>
        <p:nvSpPr>
          <p:cNvPr id="35" name="Text 32"/>
          <p:cNvSpPr/>
          <p:nvPr/>
        </p:nvSpPr>
        <p:spPr>
          <a:xfrm>
            <a:off x="4791456" y="341985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3B model meets the 15 s SLO with no cloud API</a:t>
            </a:r>
            <a:endParaRPr lang="en-US" sz="1100" dirty="0"/>
          </a:p>
        </p:txBody>
      </p:sp>
      <p:sp>
        <p:nvSpPr>
          <p:cNvPr id="36" name="Shape 33"/>
          <p:cNvSpPr/>
          <p:nvPr/>
        </p:nvSpPr>
        <p:spPr>
          <a:xfrm>
            <a:off x="6684264" y="3017520"/>
            <a:ext cx="1920240" cy="1554480"/>
          </a:xfrm>
          <a:prstGeom prst="rect">
            <a:avLst/>
          </a:prstGeom>
          <a:solidFill>
            <a:srgbClr val="FFFFFF"/>
          </a:solidFill>
          <a:ln w="9525">
            <a:solidFill>
              <a:srgbClr val="DCDCD6"/>
            </a:solidFill>
            <a:prstDash val="solid"/>
          </a:ln>
        </p:spPr>
      </p:sp>
      <p:sp>
        <p:nvSpPr>
          <p:cNvPr id="37" name="Shape 34"/>
          <p:cNvSpPr/>
          <p:nvPr/>
        </p:nvSpPr>
        <p:spPr>
          <a:xfrm>
            <a:off x="6684264" y="3017520"/>
            <a:ext cx="64008" cy="1554480"/>
          </a:xfrm>
          <a:prstGeom prst="rect">
            <a:avLst/>
          </a:prstGeom>
          <a:solidFill>
            <a:srgbClr val="9A6700"/>
          </a:solidFill>
          <a:ln w="12700">
            <a:solidFill>
              <a:srgbClr val="9A6700"/>
            </a:solidFill>
            <a:prstDash val="solid"/>
          </a:ln>
        </p:spPr>
      </p:sp>
      <p:sp>
        <p:nvSpPr>
          <p:cNvPr id="38" name="Text 35"/>
          <p:cNvSpPr/>
          <p:nvPr/>
        </p:nvSpPr>
        <p:spPr>
          <a:xfrm>
            <a:off x="6867144" y="3108960"/>
            <a:ext cx="1645920" cy="292608"/>
          </a:xfrm>
          <a:prstGeom prst="rect">
            <a:avLst/>
          </a:prstGeom>
          <a:noFill/>
          <a:ln/>
        </p:spPr>
        <p:txBody>
          <a:bodyPr wrap="square" lIns="0" tIns="0" rIns="0" bIns="0" rtlCol="0" anchor="ctr"/>
          <a:lstStyle/>
          <a:p>
            <a:pPr indent="0" marL="0">
              <a:buNone/>
            </a:pPr>
            <a:r>
              <a:rPr lang="en-US" sz="1250" b="1" dirty="0">
                <a:solidFill>
                  <a:srgbClr val="9A6700"/>
                </a:solidFill>
                <a:latin typeface="Calibri" pitchFamily="34" charset="0"/>
                <a:ea typeface="Calibri" pitchFamily="34" charset="-122"/>
                <a:cs typeface="Calibri" pitchFamily="34" charset="-120"/>
              </a:rPr>
              <a:t>Self-measuring</a:t>
            </a:r>
            <a:endParaRPr lang="en-US" sz="1250" dirty="0"/>
          </a:p>
        </p:txBody>
      </p:sp>
      <p:sp>
        <p:nvSpPr>
          <p:cNvPr id="39" name="Text 36"/>
          <p:cNvSpPr/>
          <p:nvPr/>
        </p:nvSpPr>
        <p:spPr>
          <a:xfrm>
            <a:off x="6867144" y="3419856"/>
            <a:ext cx="1645920" cy="1078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evaluation gate + benchmark harness in the code base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ADVANCED NOSQL</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Using each engine beyond CRUD</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10</a:t>
            </a:r>
            <a:endParaRPr lang="en-US" sz="800" dirty="0"/>
          </a:p>
        </p:txBody>
      </p:sp>
      <p:sp>
        <p:nvSpPr>
          <p:cNvPr id="8" name="Shape 5"/>
          <p:cNvSpPr/>
          <p:nvPr/>
        </p:nvSpPr>
        <p:spPr>
          <a:xfrm>
            <a:off x="457200" y="1280160"/>
            <a:ext cx="1920240" cy="2697480"/>
          </a:xfrm>
          <a:prstGeom prst="rect">
            <a:avLst/>
          </a:prstGeom>
          <a:solidFill>
            <a:srgbClr val="FFFFFF"/>
          </a:solidFill>
          <a:ln w="9525">
            <a:solidFill>
              <a:srgbClr val="DCDCD6"/>
            </a:solidFill>
            <a:prstDash val="solid"/>
          </a:ln>
        </p:spPr>
      </p:sp>
      <p:sp>
        <p:nvSpPr>
          <p:cNvPr id="9" name="Shape 6"/>
          <p:cNvSpPr/>
          <p:nvPr/>
        </p:nvSpPr>
        <p:spPr>
          <a:xfrm>
            <a:off x="457200" y="1280160"/>
            <a:ext cx="64008" cy="2697480"/>
          </a:xfrm>
          <a:prstGeom prst="rect">
            <a:avLst/>
          </a:prstGeom>
          <a:solidFill>
            <a:srgbClr val="1F4E79"/>
          </a:solidFill>
          <a:ln w="12700">
            <a:solidFill>
              <a:srgbClr val="1F4E79"/>
            </a:solidFill>
            <a:prstDash val="solid"/>
          </a:ln>
        </p:spPr>
      </p:sp>
      <p:sp>
        <p:nvSpPr>
          <p:cNvPr id="10" name="Text 7"/>
          <p:cNvSpPr/>
          <p:nvPr/>
        </p:nvSpPr>
        <p:spPr>
          <a:xfrm>
            <a:off x="640080" y="1371600"/>
            <a:ext cx="164592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Neo4j</a:t>
            </a:r>
            <a:endParaRPr lang="en-US" sz="1300" dirty="0"/>
          </a:p>
        </p:txBody>
      </p:sp>
      <p:sp>
        <p:nvSpPr>
          <p:cNvPr id="11" name="Text 8"/>
          <p:cNvSpPr/>
          <p:nvPr/>
        </p:nvSpPr>
        <p:spPr>
          <a:xfrm>
            <a:off x="640080" y="1682496"/>
            <a:ext cx="1645920" cy="2221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variable-length paths with COUNT {} predicates (hub budget)</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weighted path ranking with reduce()</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composite (type, value) uniqueness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UNION-of-labels index seeks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CALL … IN TRANSACTIONS bulk writes</a:t>
            </a:r>
            <a:endParaRPr lang="en-US" sz="1100" dirty="0"/>
          </a:p>
        </p:txBody>
      </p:sp>
      <p:sp>
        <p:nvSpPr>
          <p:cNvPr id="12" name="Shape 9"/>
          <p:cNvSpPr/>
          <p:nvPr/>
        </p:nvSpPr>
        <p:spPr>
          <a:xfrm>
            <a:off x="2532888" y="1280160"/>
            <a:ext cx="1920240" cy="2697480"/>
          </a:xfrm>
          <a:prstGeom prst="rect">
            <a:avLst/>
          </a:prstGeom>
          <a:solidFill>
            <a:srgbClr val="FFFFFF"/>
          </a:solidFill>
          <a:ln w="9525">
            <a:solidFill>
              <a:srgbClr val="DCDCD6"/>
            </a:solidFill>
            <a:prstDash val="solid"/>
          </a:ln>
        </p:spPr>
      </p:sp>
      <p:sp>
        <p:nvSpPr>
          <p:cNvPr id="13" name="Shape 10"/>
          <p:cNvSpPr/>
          <p:nvPr/>
        </p:nvSpPr>
        <p:spPr>
          <a:xfrm>
            <a:off x="2532888" y="1280160"/>
            <a:ext cx="64008" cy="2697480"/>
          </a:xfrm>
          <a:prstGeom prst="rect">
            <a:avLst/>
          </a:prstGeom>
          <a:solidFill>
            <a:srgbClr val="0E5A66"/>
          </a:solidFill>
          <a:ln w="12700">
            <a:solidFill>
              <a:srgbClr val="0E5A66"/>
            </a:solidFill>
            <a:prstDash val="solid"/>
          </a:ln>
        </p:spPr>
      </p:sp>
      <p:sp>
        <p:nvSpPr>
          <p:cNvPr id="14" name="Text 11"/>
          <p:cNvSpPr/>
          <p:nvPr/>
        </p:nvSpPr>
        <p:spPr>
          <a:xfrm>
            <a:off x="2715768" y="1371600"/>
            <a:ext cx="1645920" cy="292608"/>
          </a:xfrm>
          <a:prstGeom prst="rect">
            <a:avLst/>
          </a:prstGeom>
          <a:noFill/>
          <a:ln/>
        </p:spPr>
        <p:txBody>
          <a:bodyPr wrap="square" lIns="0" tIns="0" rIns="0" bIns="0" rtlCol="0" anchor="ctr"/>
          <a:lstStyle/>
          <a:p>
            <a:pPr indent="0" marL="0">
              <a:buNone/>
            </a:pPr>
            <a:r>
              <a:rPr lang="en-US" sz="1300" b="1" dirty="0">
                <a:solidFill>
                  <a:srgbClr val="0E5A66"/>
                </a:solidFill>
                <a:latin typeface="Calibri" pitchFamily="34" charset="0"/>
                <a:ea typeface="Calibri" pitchFamily="34" charset="-122"/>
                <a:cs typeface="Calibri" pitchFamily="34" charset="-120"/>
              </a:rPr>
              <a:t>MongoDB</a:t>
            </a:r>
            <a:endParaRPr lang="en-US" sz="1300" dirty="0"/>
          </a:p>
        </p:txBody>
      </p:sp>
      <p:sp>
        <p:nvSpPr>
          <p:cNvPr id="15" name="Text 12"/>
          <p:cNvSpPr/>
          <p:nvPr/>
        </p:nvSpPr>
        <p:spPr>
          <a:xfrm>
            <a:off x="2715768" y="1682496"/>
            <a:ext cx="1645920" cy="2221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schema-on-read report fields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multikey indexes on actors and IOCs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explain() to verify IXSCAN</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idempotent replace_one upserts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collStats for index sizing</a:t>
            </a:r>
            <a:endParaRPr lang="en-US" sz="1100" dirty="0"/>
          </a:p>
        </p:txBody>
      </p:sp>
      <p:sp>
        <p:nvSpPr>
          <p:cNvPr id="16" name="Shape 13"/>
          <p:cNvSpPr/>
          <p:nvPr/>
        </p:nvSpPr>
        <p:spPr>
          <a:xfrm>
            <a:off x="4608576" y="1280160"/>
            <a:ext cx="1920240" cy="2697480"/>
          </a:xfrm>
          <a:prstGeom prst="rect">
            <a:avLst/>
          </a:prstGeom>
          <a:solidFill>
            <a:srgbClr val="FFFFFF"/>
          </a:solidFill>
          <a:ln w="9525">
            <a:solidFill>
              <a:srgbClr val="DCDCD6"/>
            </a:solidFill>
            <a:prstDash val="solid"/>
          </a:ln>
        </p:spPr>
      </p:sp>
      <p:sp>
        <p:nvSpPr>
          <p:cNvPr id="17" name="Shape 14"/>
          <p:cNvSpPr/>
          <p:nvPr/>
        </p:nvSpPr>
        <p:spPr>
          <a:xfrm>
            <a:off x="4608576" y="1280160"/>
            <a:ext cx="64008" cy="2697480"/>
          </a:xfrm>
          <a:prstGeom prst="rect">
            <a:avLst/>
          </a:prstGeom>
          <a:solidFill>
            <a:srgbClr val="7A2A2A"/>
          </a:solidFill>
          <a:ln w="12700">
            <a:solidFill>
              <a:srgbClr val="7A2A2A"/>
            </a:solidFill>
            <a:prstDash val="solid"/>
          </a:ln>
        </p:spPr>
      </p:sp>
      <p:sp>
        <p:nvSpPr>
          <p:cNvPr id="18" name="Text 15"/>
          <p:cNvSpPr/>
          <p:nvPr/>
        </p:nvSpPr>
        <p:spPr>
          <a:xfrm>
            <a:off x="4791456" y="1371600"/>
            <a:ext cx="1645920" cy="292608"/>
          </a:xfrm>
          <a:prstGeom prst="rect">
            <a:avLst/>
          </a:prstGeom>
          <a:noFill/>
          <a:ln/>
        </p:spPr>
        <p:txBody>
          <a:bodyPr wrap="square" lIns="0" tIns="0" rIns="0" bIns="0" rtlCol="0" anchor="ctr"/>
          <a:lstStyle/>
          <a:p>
            <a:pPr indent="0" marL="0">
              <a:buNone/>
            </a:pPr>
            <a:r>
              <a:rPr lang="en-US" sz="1300" b="1" dirty="0">
                <a:solidFill>
                  <a:srgbClr val="7A2A2A"/>
                </a:solidFill>
                <a:latin typeface="Calibri" pitchFamily="34" charset="0"/>
                <a:ea typeface="Calibri" pitchFamily="34" charset="-122"/>
                <a:cs typeface="Calibri" pitchFamily="34" charset="-120"/>
              </a:rPr>
              <a:t>Redis</a:t>
            </a:r>
            <a:endParaRPr lang="en-US" sz="1300" dirty="0"/>
          </a:p>
        </p:txBody>
      </p:sp>
      <p:sp>
        <p:nvSpPr>
          <p:cNvPr id="19" name="Text 16"/>
          <p:cNvSpPr/>
          <p:nvPr/>
        </p:nvSpPr>
        <p:spPr>
          <a:xfrm>
            <a:off x="4791456" y="1682496"/>
            <a:ext cx="1645920" cy="2221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per-key TTL (SET EX)</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sorted-set expiry index</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pipelined GET + TTL</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hot set via ZRANGEBYSCORE</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AOF persistence</a:t>
            </a:r>
            <a:endParaRPr lang="en-US" sz="1100" dirty="0"/>
          </a:p>
        </p:txBody>
      </p:sp>
      <p:sp>
        <p:nvSpPr>
          <p:cNvPr id="20" name="Shape 17"/>
          <p:cNvSpPr/>
          <p:nvPr/>
        </p:nvSpPr>
        <p:spPr>
          <a:xfrm>
            <a:off x="6684264" y="1280160"/>
            <a:ext cx="1920240" cy="2697480"/>
          </a:xfrm>
          <a:prstGeom prst="rect">
            <a:avLst/>
          </a:prstGeom>
          <a:solidFill>
            <a:srgbClr val="FFFFFF"/>
          </a:solidFill>
          <a:ln w="9525">
            <a:solidFill>
              <a:srgbClr val="DCDCD6"/>
            </a:solidFill>
            <a:prstDash val="solid"/>
          </a:ln>
        </p:spPr>
      </p:sp>
      <p:sp>
        <p:nvSpPr>
          <p:cNvPr id="21" name="Shape 18"/>
          <p:cNvSpPr/>
          <p:nvPr/>
        </p:nvSpPr>
        <p:spPr>
          <a:xfrm>
            <a:off x="6684264" y="1280160"/>
            <a:ext cx="64008" cy="2697480"/>
          </a:xfrm>
          <a:prstGeom prst="rect">
            <a:avLst/>
          </a:prstGeom>
          <a:solidFill>
            <a:srgbClr val="48306B"/>
          </a:solidFill>
          <a:ln w="12700">
            <a:solidFill>
              <a:srgbClr val="48306B"/>
            </a:solidFill>
            <a:prstDash val="solid"/>
          </a:ln>
        </p:spPr>
      </p:sp>
      <p:sp>
        <p:nvSpPr>
          <p:cNvPr id="22" name="Text 19"/>
          <p:cNvSpPr/>
          <p:nvPr/>
        </p:nvSpPr>
        <p:spPr>
          <a:xfrm>
            <a:off x="6867144" y="1371600"/>
            <a:ext cx="1645920" cy="292608"/>
          </a:xfrm>
          <a:prstGeom prst="rect">
            <a:avLst/>
          </a:prstGeom>
          <a:noFill/>
          <a:ln/>
        </p:spPr>
        <p:txBody>
          <a:bodyPr wrap="square" lIns="0" tIns="0" rIns="0" bIns="0" rtlCol="0" anchor="ctr"/>
          <a:lstStyle/>
          <a:p>
            <a:pPr indent="0" marL="0">
              <a:buNone/>
            </a:pPr>
            <a:r>
              <a:rPr lang="en-US" sz="1300" b="1" dirty="0">
                <a:solidFill>
                  <a:srgbClr val="48306B"/>
                </a:solidFill>
                <a:latin typeface="Calibri" pitchFamily="34" charset="0"/>
                <a:ea typeface="Calibri" pitchFamily="34" charset="-122"/>
                <a:cs typeface="Calibri" pitchFamily="34" charset="-120"/>
              </a:rPr>
              <a:t>Qdrant</a:t>
            </a:r>
            <a:endParaRPr lang="en-US" sz="1300" dirty="0"/>
          </a:p>
        </p:txBody>
      </p:sp>
      <p:sp>
        <p:nvSpPr>
          <p:cNvPr id="23" name="Text 20"/>
          <p:cNvSpPr/>
          <p:nvPr/>
        </p:nvSpPr>
        <p:spPr>
          <a:xfrm>
            <a:off x="6867144" y="1682496"/>
            <a:ext cx="1645920" cy="22219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HNSW, cosine, m = 16</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keyword + integer payload indexes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filtered k-NN</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tunable ef (recall vs speed)</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exact search as ground truth</a:t>
            </a:r>
            <a:endParaRPr lang="en-US" sz="1100" dirty="0"/>
          </a:p>
        </p:txBody>
      </p:sp>
      <p:sp>
        <p:nvSpPr>
          <p:cNvPr id="24" name="Text 21"/>
          <p:cNvSpPr/>
          <p:nvPr/>
        </p:nvSpPr>
        <p:spPr>
          <a:xfrm>
            <a:off x="457200" y="4160520"/>
            <a:ext cx="8229600" cy="502920"/>
          </a:xfrm>
          <a:prstGeom prst="rect">
            <a:avLst/>
          </a:prstGeom>
          <a:noFill/>
          <a:ln/>
        </p:spPr>
        <p:txBody>
          <a:bodyPr wrap="square" lIns="0" tIns="0" rIns="0" bIns="0" rtlCol="0" anchor="t"/>
          <a:lstStyle/>
          <a:p>
            <a:pPr indent="0" marL="0">
              <a:buNone/>
            </a:pPr>
            <a:r>
              <a:rPr lang="en-US" sz="1200" b="1" dirty="0">
                <a:solidFill>
                  <a:srgbClr val="0F2A47"/>
                </a:solidFill>
                <a:latin typeface="Calibri" pitchFamily="34" charset="0"/>
                <a:ea typeface="Calibri" pitchFamily="34" charset="-122"/>
                <a:cs typeface="Calibri" pitchFamily="34" charset="-120"/>
              </a:rPr>
              <a:t>Each claim is measured, not assumed: </a:t>
            </a:r>
            <a:pPr indent="0" marL="0">
              <a:buNone/>
            </a:pPr>
            <a:r>
              <a:rPr lang="en-US" sz="1200" dirty="0">
                <a:solidFill>
                  <a:srgbClr val="1A1F26"/>
                </a:solidFill>
                <a:latin typeface="Calibri" pitchFamily="34" charset="0"/>
                <a:ea typeface="Calibri" pitchFamily="34" charset="-122"/>
                <a:cs typeface="Calibri" pitchFamily="34" charset="-120"/>
              </a:rPr>
              <a:t>Neo4j PROFILE, MongoDB explain() and exact k-NN as ground truth back every index and traversal choice (Section 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VALIDATION</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Tested at three levels, on every push</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11</a:t>
            </a:r>
            <a:endParaRPr lang="en-US" sz="800" dirty="0"/>
          </a:p>
        </p:txBody>
      </p:sp>
      <p:sp>
        <p:nvSpPr>
          <p:cNvPr id="8" name="Shape 5"/>
          <p:cNvSpPr/>
          <p:nvPr/>
        </p:nvSpPr>
        <p:spPr>
          <a:xfrm>
            <a:off x="457200" y="1280160"/>
            <a:ext cx="2926080" cy="3383280"/>
          </a:xfrm>
          <a:prstGeom prst="rect">
            <a:avLst/>
          </a:prstGeom>
          <a:solidFill>
            <a:srgbClr val="FFFFFF"/>
          </a:solidFill>
          <a:ln w="9525">
            <a:solidFill>
              <a:srgbClr val="DCDCD6"/>
            </a:solidFill>
            <a:prstDash val="solid"/>
          </a:ln>
        </p:spPr>
      </p:sp>
      <p:sp>
        <p:nvSpPr>
          <p:cNvPr id="9" name="Shape 6"/>
          <p:cNvSpPr/>
          <p:nvPr/>
        </p:nvSpPr>
        <p:spPr>
          <a:xfrm>
            <a:off x="457200" y="1280160"/>
            <a:ext cx="64008" cy="3383280"/>
          </a:xfrm>
          <a:prstGeom prst="rect">
            <a:avLst/>
          </a:prstGeom>
          <a:solidFill>
            <a:srgbClr val="0F2A47"/>
          </a:solidFill>
          <a:ln w="12700">
            <a:solidFill>
              <a:srgbClr val="0F2A47"/>
            </a:solidFill>
            <a:prstDash val="solid"/>
          </a:ln>
        </p:spPr>
      </p:sp>
      <p:sp>
        <p:nvSpPr>
          <p:cNvPr id="10" name="Text 7"/>
          <p:cNvSpPr/>
          <p:nvPr/>
        </p:nvSpPr>
        <p:spPr>
          <a:xfrm>
            <a:off x="640080" y="1371600"/>
            <a:ext cx="2651760" cy="292608"/>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Test tiers</a:t>
            </a:r>
            <a:endParaRPr lang="en-US" sz="1300" dirty="0"/>
          </a:p>
        </p:txBody>
      </p:sp>
      <p:sp>
        <p:nvSpPr>
          <p:cNvPr id="11" name="Text 8"/>
          <p:cNvSpPr/>
          <p:nvPr/>
        </p:nvSpPr>
        <p:spPr>
          <a:xfrm>
            <a:off x="640080" y="1682496"/>
            <a:ext cx="2651760" cy="2907792"/>
          </a:xfrm>
          <a:prstGeom prst="rect">
            <a:avLst/>
          </a:prstGeom>
          <a:noFill/>
          <a:ln/>
        </p:spPr>
        <p:txBody>
          <a:bodyPr wrap="square" lIns="0" tIns="0" rIns="0" bIns="0" rtlCol="0" anchor="t"/>
          <a:lstStyle/>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16 unit tests — TLP, parsing, linker equivalence, gate</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15 integration tests — real API, live stores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Evaluation gate — 6 questions, exits non-zero on a miss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Benchmarks — 6 experiments</a:t>
            </a:r>
            <a:endParaRPr lang="en-US" sz="1100" dirty="0"/>
          </a:p>
          <a:p>
            <a:pPr indent="0" marL="0">
              <a:spcAft>
                <a:spcPts val="300"/>
              </a:spcAft>
              <a:buNone/>
            </a:pPr>
            <a:r>
              <a:rPr lang="en-US" sz="1100" dirty="0">
                <a:solidFill>
                  <a:srgbClr val="1A1F26"/>
                </a:solidFill>
                <a:latin typeface="Calibri" pitchFamily="34" charset="0"/>
                <a:ea typeface="Calibri" pitchFamily="34" charset="-122"/>
                <a:cs typeface="Calibri" pitchFamily="34" charset="-120"/>
              </a:rPr>
              <a:t>CI — all of the above, fresh containers, every push</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566160" y="1280160"/>
          <a:ext cx="5120640" cy="914400"/>
        </p:xfrm>
        <a:graphic>
          <a:graphicData uri="http://schemas.openxmlformats.org/drawingml/2006/table">
            <a:tbl>
              <a:tblPr/>
              <a:tblGrid>
                <a:gridCol w="2926080"/>
                <a:gridCol w="685800"/>
                <a:gridCol w="731520"/>
                <a:gridCol w="7772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Acceptance question</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0F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Edges</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0F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Reports</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0F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Coverage</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0F2A47"/>
                    </a:solidFill>
                  </a:tcPr>
                </a:tc>
              </a:tr>
              <a:tr h="329184">
                <a:tc>
                  <a:txBody>
                    <a:bodyPr/>
                    <a:lstStyle/>
                    <a:p>
                      <a:pPr indent="0" marL="0">
                        <a:buNone/>
                      </a:pPr>
                      <a:r>
                        <a:rPr lang="en-US" sz="1050" dirty="0">
                          <a:solidFill>
                            <a:srgbClr val="1A1F26"/>
                          </a:solidFill>
                          <a:latin typeface="Calibri" pitchFamily="34" charset="0"/>
                          <a:ea typeface="Calibri" pitchFamily="34" charset="-122"/>
                          <a:cs typeface="Calibri" pitchFamily="34" charset="-120"/>
                        </a:rPr>
                        <a:t>Shared C2 + hosted malware</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0.50</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F26"/>
                          </a:solidFill>
                          <a:latin typeface="Calibri" pitchFamily="34" charset="0"/>
                          <a:ea typeface="Calibri" pitchFamily="34" charset="-122"/>
                          <a:cs typeface="Calibri" pitchFamily="34" charset="-120"/>
                        </a:rPr>
                        <a:t>APT29 ↔ SUNBURST supply chain (gate fallback)</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F26"/>
                          </a:solidFill>
                          <a:latin typeface="Calibri" pitchFamily="34" charset="0"/>
                          <a:ea typeface="Calibri" pitchFamily="34" charset="-122"/>
                          <a:cs typeface="Calibri" pitchFamily="34" charset="-120"/>
                        </a:rPr>
                        <a:t>Cobalt Strike users besides FIN7</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F26"/>
                          </a:solidFill>
                          <a:latin typeface="Calibri" pitchFamily="34" charset="0"/>
                          <a:ea typeface="Calibri" pitchFamily="34" charset="-122"/>
                          <a:cs typeface="Calibri" pitchFamily="34" charset="-120"/>
                        </a:rPr>
                        <a:t>Sandworm campaigns + APT28 infra</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F26"/>
                          </a:solidFill>
                          <a:latin typeface="Calibri" pitchFamily="34" charset="0"/>
                          <a:ea typeface="Calibri" pitchFamily="34" charset="-122"/>
                          <a:cs typeface="Calibri" pitchFamily="34" charset="-120"/>
                        </a:rPr>
                        <a:t>Spearphishing analogue search</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0.67</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F26"/>
                          </a:solidFill>
                          <a:latin typeface="Calibri" pitchFamily="34" charset="0"/>
                          <a:ea typeface="Calibri" pitchFamily="34" charset="-122"/>
                          <a:cs typeface="Calibri" pitchFamily="34" charset="-120"/>
                        </a:rPr>
                        <a:t>Why Mimikatz is weak attribution</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F26"/>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lnL w="6350" cap="flat" cmpd="sng" algn="ctr">
                      <a:solidFill>
                        <a:srgbClr val="DCDCD6"/>
                      </a:solidFill>
                      <a:prstDash val="solid"/>
                      <a:round/>
                      <a:headEnd type="none" w="med" len="med"/>
                      <a:tailEnd type="none" w="med" len="med"/>
                    </a:lnL>
                    <a:lnR w="6350" cap="flat" cmpd="sng" algn="ctr">
                      <a:solidFill>
                        <a:srgbClr val="DCDCD6"/>
                      </a:solidFill>
                      <a:prstDash val="solid"/>
                      <a:round/>
                      <a:headEnd type="none" w="med" len="med"/>
                      <a:tailEnd type="none" w="med" len="med"/>
                    </a:lnR>
                    <a:lnT w="6350" cap="flat" cmpd="sng" algn="ctr">
                      <a:solidFill>
                        <a:srgbClr val="DCDCD6"/>
                      </a:solidFill>
                      <a:prstDash val="solid"/>
                      <a:round/>
                      <a:headEnd type="none" w="med" len="med"/>
                      <a:tailEnd type="none" w="med" len="med"/>
                    </a:lnT>
                    <a:lnB w="6350" cap="flat" cmpd="sng" algn="ctr">
                      <a:solidFill>
                        <a:srgbClr val="DCDCD6"/>
                      </a:solidFill>
                      <a:prstDash val="solid"/>
                      <a:round/>
                      <a:headEnd type="none" w="med" len="med"/>
                      <a:tailEnd type="none" w="med" len="med"/>
                    </a:lnB>
                    <a:solidFill>
                      <a:srgbClr val="FFFFFF"/>
                    </a:solidFill>
                  </a:tcPr>
                </a:tc>
              </a:tr>
            </a:tbl>
          </a:graphicData>
        </a:graphic>
      </p:graphicFrame>
      <p:sp>
        <p:nvSpPr>
          <p:cNvPr id="13" name="Text 9"/>
          <p:cNvSpPr/>
          <p:nvPr/>
        </p:nvSpPr>
        <p:spPr>
          <a:xfrm>
            <a:off x="3566160" y="3703320"/>
            <a:ext cx="5120640" cy="274320"/>
          </a:xfrm>
          <a:prstGeom prst="rect">
            <a:avLst/>
          </a:prstGeom>
          <a:noFill/>
          <a:ln/>
        </p:spPr>
        <p:txBody>
          <a:bodyPr wrap="square" lIns="0" tIns="0" rIns="0" bIns="0" rtlCol="0" anchor="ctr"/>
          <a:lstStyle/>
          <a:p>
            <a:pPr indent="0" marL="0">
              <a:buNone/>
            </a:pPr>
            <a:r>
              <a:rPr lang="en-US" sz="1100" b="1" dirty="0">
                <a:solidFill>
                  <a:srgbClr val="1B5E40"/>
                </a:solidFill>
                <a:latin typeface="Calibri" pitchFamily="34" charset="0"/>
                <a:ea typeface="Calibri" pitchFamily="34" charset="-122"/>
                <a:cs typeface="Calibri" pitchFamily="34" charset="-120"/>
              </a:rPr>
              <a:t>All gold evidence recalled · no refusals · mean coverage 0.79</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PERFORMANCE · SERVICE LEVELS</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Every latency objective is met</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12</a:t>
            </a:r>
            <a:endParaRPr lang="en-US" sz="800" dirty="0"/>
          </a:p>
        </p:txBody>
      </p:sp>
      <p:sp>
        <p:nvSpPr>
          <p:cNvPr id="8" name="Shape 5"/>
          <p:cNvSpPr/>
          <p:nvPr/>
        </p:nvSpPr>
        <p:spPr>
          <a:xfrm>
            <a:off x="457200" y="1325880"/>
            <a:ext cx="2606040" cy="2377440"/>
          </a:xfrm>
          <a:prstGeom prst="rect">
            <a:avLst/>
          </a:prstGeom>
          <a:solidFill>
            <a:srgbClr val="FFFFFF"/>
          </a:solidFill>
          <a:ln w="9525">
            <a:solidFill>
              <a:srgbClr val="DCDCD6"/>
            </a:solidFill>
            <a:prstDash val="solid"/>
          </a:ln>
        </p:spPr>
      </p:sp>
      <p:sp>
        <p:nvSpPr>
          <p:cNvPr id="9" name="Shape 6"/>
          <p:cNvSpPr/>
          <p:nvPr/>
        </p:nvSpPr>
        <p:spPr>
          <a:xfrm>
            <a:off x="457200" y="1325880"/>
            <a:ext cx="64008" cy="2377440"/>
          </a:xfrm>
          <a:prstGeom prst="rect">
            <a:avLst/>
          </a:prstGeom>
          <a:solidFill>
            <a:srgbClr val="7A2A2A"/>
          </a:solidFill>
          <a:ln w="12700">
            <a:solidFill>
              <a:srgbClr val="7A2A2A"/>
            </a:solidFill>
            <a:prstDash val="solid"/>
          </a:ln>
        </p:spPr>
      </p:sp>
      <p:sp>
        <p:nvSpPr>
          <p:cNvPr id="10" name="Text 7"/>
          <p:cNvSpPr/>
          <p:nvPr/>
        </p:nvSpPr>
        <p:spPr>
          <a:xfrm>
            <a:off x="640080" y="1417320"/>
            <a:ext cx="2331720" cy="292608"/>
          </a:xfrm>
          <a:prstGeom prst="rect">
            <a:avLst/>
          </a:prstGeom>
          <a:noFill/>
          <a:ln/>
        </p:spPr>
        <p:txBody>
          <a:bodyPr wrap="square" lIns="0" tIns="0" rIns="0" bIns="0" rtlCol="0" anchor="ctr"/>
          <a:lstStyle/>
          <a:p>
            <a:pPr indent="0" marL="0">
              <a:buNone/>
            </a:pPr>
            <a:r>
              <a:rPr lang="en-US" sz="1300" b="1" dirty="0">
                <a:solidFill>
                  <a:srgbClr val="7A2A2A"/>
                </a:solidFill>
                <a:latin typeface="Calibri" pitchFamily="34" charset="0"/>
                <a:ea typeface="Calibri" pitchFamily="34" charset="-122"/>
                <a:cs typeface="Calibri" pitchFamily="34" charset="-120"/>
              </a:rPr>
              <a:t>Redis blocklist GET</a:t>
            </a:r>
            <a:endParaRPr lang="en-US" sz="1300" dirty="0"/>
          </a:p>
        </p:txBody>
      </p:sp>
      <p:sp>
        <p:nvSpPr>
          <p:cNvPr id="11" name="Text 8"/>
          <p:cNvSpPr/>
          <p:nvPr/>
        </p:nvSpPr>
        <p:spPr>
          <a:xfrm>
            <a:off x="640080" y="1783080"/>
            <a:ext cx="2286000" cy="566928"/>
          </a:xfrm>
          <a:prstGeom prst="rect">
            <a:avLst/>
          </a:prstGeom>
          <a:noFill/>
          <a:ln/>
        </p:spPr>
        <p:txBody>
          <a:bodyPr wrap="square" lIns="0" tIns="0" rIns="0" bIns="0" rtlCol="0" anchor="ctr"/>
          <a:lstStyle/>
          <a:p>
            <a:pPr indent="0" marL="0">
              <a:buNone/>
            </a:pPr>
            <a:r>
              <a:rPr lang="en-US" sz="3000" b="1" dirty="0">
                <a:solidFill>
                  <a:srgbClr val="7A2A2A"/>
                </a:solidFill>
                <a:latin typeface="Georgia" pitchFamily="34" charset="0"/>
                <a:ea typeface="Georgia" pitchFamily="34" charset="-122"/>
                <a:cs typeface="Georgia" pitchFamily="34" charset="-120"/>
              </a:rPr>
              <a:t>1.08 ms</a:t>
            </a:r>
            <a:endParaRPr lang="en-US" sz="3000" dirty="0"/>
          </a:p>
        </p:txBody>
      </p:sp>
      <p:sp>
        <p:nvSpPr>
          <p:cNvPr id="12" name="Text 9"/>
          <p:cNvSpPr/>
          <p:nvPr/>
        </p:nvSpPr>
        <p:spPr>
          <a:xfrm>
            <a:off x="640080" y="2350008"/>
            <a:ext cx="228600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p99 · target &lt; 5 ms</a:t>
            </a:r>
            <a:endParaRPr lang="en-US" sz="1100" dirty="0"/>
          </a:p>
        </p:txBody>
      </p:sp>
      <p:sp>
        <p:nvSpPr>
          <p:cNvPr id="13" name="Text 10"/>
          <p:cNvSpPr/>
          <p:nvPr/>
        </p:nvSpPr>
        <p:spPr>
          <a:xfrm>
            <a:off x="640080" y="2606040"/>
            <a:ext cx="228600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0.534 ms at 500,000 keys</a:t>
            </a:r>
            <a:endParaRPr lang="en-US" sz="950" dirty="0"/>
          </a:p>
        </p:txBody>
      </p:sp>
      <p:sp>
        <p:nvSpPr>
          <p:cNvPr id="14" name="Shape 11"/>
          <p:cNvSpPr/>
          <p:nvPr/>
        </p:nvSpPr>
        <p:spPr>
          <a:xfrm>
            <a:off x="3246120" y="1325880"/>
            <a:ext cx="2606040" cy="2377440"/>
          </a:xfrm>
          <a:prstGeom prst="rect">
            <a:avLst/>
          </a:prstGeom>
          <a:solidFill>
            <a:srgbClr val="FFFFFF"/>
          </a:solidFill>
          <a:ln w="9525">
            <a:solidFill>
              <a:srgbClr val="DCDCD6"/>
            </a:solidFill>
            <a:prstDash val="solid"/>
          </a:ln>
        </p:spPr>
      </p:sp>
      <p:sp>
        <p:nvSpPr>
          <p:cNvPr id="15" name="Shape 12"/>
          <p:cNvSpPr/>
          <p:nvPr/>
        </p:nvSpPr>
        <p:spPr>
          <a:xfrm>
            <a:off x="3246120" y="1325880"/>
            <a:ext cx="64008" cy="2377440"/>
          </a:xfrm>
          <a:prstGeom prst="rect">
            <a:avLst/>
          </a:prstGeom>
          <a:solidFill>
            <a:srgbClr val="1F4E79"/>
          </a:solidFill>
          <a:ln w="12700">
            <a:solidFill>
              <a:srgbClr val="1F4E79"/>
            </a:solidFill>
            <a:prstDash val="solid"/>
          </a:ln>
        </p:spPr>
      </p:sp>
      <p:sp>
        <p:nvSpPr>
          <p:cNvPr id="16" name="Text 13"/>
          <p:cNvSpPr/>
          <p:nvPr/>
        </p:nvSpPr>
        <p:spPr>
          <a:xfrm>
            <a:off x="3429000" y="1417320"/>
            <a:ext cx="2331720" cy="292608"/>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Neo4j 1–3 hop</a:t>
            </a:r>
            <a:endParaRPr lang="en-US" sz="1300" dirty="0"/>
          </a:p>
        </p:txBody>
      </p:sp>
      <p:sp>
        <p:nvSpPr>
          <p:cNvPr id="17" name="Text 14"/>
          <p:cNvSpPr/>
          <p:nvPr/>
        </p:nvSpPr>
        <p:spPr>
          <a:xfrm>
            <a:off x="3429000" y="1783080"/>
            <a:ext cx="2286000" cy="566928"/>
          </a:xfrm>
          <a:prstGeom prst="rect">
            <a:avLst/>
          </a:prstGeom>
          <a:noFill/>
          <a:ln/>
        </p:spPr>
        <p:txBody>
          <a:bodyPr wrap="square" lIns="0" tIns="0" rIns="0" bIns="0" rtlCol="0" anchor="ctr"/>
          <a:lstStyle/>
          <a:p>
            <a:pPr indent="0" marL="0">
              <a:buNone/>
            </a:pPr>
            <a:r>
              <a:rPr lang="en-US" sz="3000" b="1" dirty="0">
                <a:solidFill>
                  <a:srgbClr val="1F4E79"/>
                </a:solidFill>
                <a:latin typeface="Georgia" pitchFamily="34" charset="0"/>
                <a:ea typeface="Georgia" pitchFamily="34" charset="-122"/>
                <a:cs typeface="Georgia" pitchFamily="34" charset="-120"/>
              </a:rPr>
              <a:t>15.73 ms</a:t>
            </a:r>
            <a:endParaRPr lang="en-US" sz="3000" dirty="0"/>
          </a:p>
        </p:txBody>
      </p:sp>
      <p:sp>
        <p:nvSpPr>
          <p:cNvPr id="18" name="Text 15"/>
          <p:cNvSpPr/>
          <p:nvPr/>
        </p:nvSpPr>
        <p:spPr>
          <a:xfrm>
            <a:off x="3429000" y="2350008"/>
            <a:ext cx="228600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3-hop p95 · target &lt; 500 ms</a:t>
            </a:r>
            <a:endParaRPr lang="en-US" sz="1100" dirty="0"/>
          </a:p>
        </p:txBody>
      </p:sp>
      <p:sp>
        <p:nvSpPr>
          <p:cNvPr id="19" name="Text 16"/>
          <p:cNvSpPr/>
          <p:nvPr/>
        </p:nvSpPr>
        <p:spPr>
          <a:xfrm>
            <a:off x="3429000" y="2606040"/>
            <a:ext cx="228600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1-hop 12.39 ms · 2-hop 35.52 ms</a:t>
            </a:r>
            <a:endParaRPr lang="en-US" sz="950" dirty="0"/>
          </a:p>
        </p:txBody>
      </p:sp>
      <p:sp>
        <p:nvSpPr>
          <p:cNvPr id="20" name="Shape 17"/>
          <p:cNvSpPr/>
          <p:nvPr/>
        </p:nvSpPr>
        <p:spPr>
          <a:xfrm>
            <a:off x="6035040" y="1325880"/>
            <a:ext cx="2606040" cy="2377440"/>
          </a:xfrm>
          <a:prstGeom prst="rect">
            <a:avLst/>
          </a:prstGeom>
          <a:solidFill>
            <a:srgbClr val="FFFFFF"/>
          </a:solidFill>
          <a:ln w="9525">
            <a:solidFill>
              <a:srgbClr val="DCDCD6"/>
            </a:solidFill>
            <a:prstDash val="solid"/>
          </a:ln>
        </p:spPr>
      </p:sp>
      <p:sp>
        <p:nvSpPr>
          <p:cNvPr id="21" name="Shape 18"/>
          <p:cNvSpPr/>
          <p:nvPr/>
        </p:nvSpPr>
        <p:spPr>
          <a:xfrm>
            <a:off x="6035040" y="1325880"/>
            <a:ext cx="64008" cy="2377440"/>
          </a:xfrm>
          <a:prstGeom prst="rect">
            <a:avLst/>
          </a:prstGeom>
          <a:solidFill>
            <a:srgbClr val="1B5E40"/>
          </a:solidFill>
          <a:ln w="12700">
            <a:solidFill>
              <a:srgbClr val="1B5E40"/>
            </a:solidFill>
            <a:prstDash val="solid"/>
          </a:ln>
        </p:spPr>
      </p:sp>
      <p:sp>
        <p:nvSpPr>
          <p:cNvPr id="22" name="Text 19"/>
          <p:cNvSpPr/>
          <p:nvPr/>
        </p:nvSpPr>
        <p:spPr>
          <a:xfrm>
            <a:off x="6217920" y="1417320"/>
            <a:ext cx="2331720" cy="292608"/>
          </a:xfrm>
          <a:prstGeom prst="rect">
            <a:avLst/>
          </a:prstGeom>
          <a:noFill/>
          <a:ln/>
        </p:spPr>
        <p:txBody>
          <a:bodyPr wrap="square" lIns="0" tIns="0" rIns="0" bIns="0" rtlCol="0" anchor="ctr"/>
          <a:lstStyle/>
          <a:p>
            <a:pPr indent="0" marL="0">
              <a:buNone/>
            </a:pPr>
            <a:r>
              <a:rPr lang="en-US" sz="1300" b="1" dirty="0">
                <a:solidFill>
                  <a:srgbClr val="1B5E40"/>
                </a:solidFill>
                <a:latin typeface="Calibri" pitchFamily="34" charset="0"/>
                <a:ea typeface="Calibri" pitchFamily="34" charset="-122"/>
                <a:cs typeface="Calibri" pitchFamily="34" charset="-120"/>
              </a:rPr>
              <a:t>GraphRAG with LLM</a:t>
            </a:r>
            <a:endParaRPr lang="en-US" sz="1300" dirty="0"/>
          </a:p>
        </p:txBody>
      </p:sp>
      <p:sp>
        <p:nvSpPr>
          <p:cNvPr id="23" name="Text 20"/>
          <p:cNvSpPr/>
          <p:nvPr/>
        </p:nvSpPr>
        <p:spPr>
          <a:xfrm>
            <a:off x="6217920" y="1783080"/>
            <a:ext cx="2286000" cy="566928"/>
          </a:xfrm>
          <a:prstGeom prst="rect">
            <a:avLst/>
          </a:prstGeom>
          <a:noFill/>
          <a:ln/>
        </p:spPr>
        <p:txBody>
          <a:bodyPr wrap="square" lIns="0" tIns="0" rIns="0" bIns="0" rtlCol="0" anchor="ctr"/>
          <a:lstStyle/>
          <a:p>
            <a:pPr indent="0" marL="0">
              <a:buNone/>
            </a:pPr>
            <a:r>
              <a:rPr lang="en-US" sz="3000" b="1" dirty="0">
                <a:solidFill>
                  <a:srgbClr val="1B5E40"/>
                </a:solidFill>
                <a:latin typeface="Georgia" pitchFamily="34" charset="0"/>
                <a:ea typeface="Georgia" pitchFamily="34" charset="-122"/>
                <a:cs typeface="Georgia" pitchFamily="34" charset="-120"/>
              </a:rPr>
              <a:t>9.5 s</a:t>
            </a:r>
            <a:endParaRPr lang="en-US" sz="3000" dirty="0"/>
          </a:p>
        </p:txBody>
      </p:sp>
      <p:sp>
        <p:nvSpPr>
          <p:cNvPr id="24" name="Text 21"/>
          <p:cNvSpPr/>
          <p:nvPr/>
        </p:nvSpPr>
        <p:spPr>
          <a:xfrm>
            <a:off x="6217920" y="2350008"/>
            <a:ext cx="228600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p95 · target &lt; 15 s</a:t>
            </a:r>
            <a:endParaRPr lang="en-US" sz="1100" dirty="0"/>
          </a:p>
        </p:txBody>
      </p:sp>
      <p:sp>
        <p:nvSpPr>
          <p:cNvPr id="25" name="Text 22"/>
          <p:cNvSpPr/>
          <p:nvPr/>
        </p:nvSpPr>
        <p:spPr>
          <a:xfrm>
            <a:off x="6217920" y="2606040"/>
            <a:ext cx="228600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llama3.2:3b · was 52.3 s</a:t>
            </a:r>
            <a:endParaRPr lang="en-US" sz="950" dirty="0"/>
          </a:p>
        </p:txBody>
      </p:sp>
      <p:sp>
        <p:nvSpPr>
          <p:cNvPr id="26" name="Text 23"/>
          <p:cNvSpPr/>
          <p:nvPr/>
        </p:nvSpPr>
        <p:spPr>
          <a:xfrm>
            <a:off x="457200" y="3977640"/>
            <a:ext cx="8229600" cy="274320"/>
          </a:xfrm>
          <a:prstGeom prst="rect">
            <a:avLst/>
          </a:prstGeom>
          <a:noFill/>
          <a:ln/>
        </p:spPr>
        <p:txBody>
          <a:bodyPr wrap="square" lIns="0" tIns="0" rIns="0" bIns="0" rtlCol="0" anchor="ctr"/>
          <a:lstStyle/>
          <a:p>
            <a:pPr indent="0" marL="0">
              <a:buNone/>
            </a:pPr>
            <a:r>
              <a:rPr lang="en-US" sz="1050" i="1" dirty="0">
                <a:solidFill>
                  <a:srgbClr val="5A6470"/>
                </a:solidFill>
                <a:latin typeface="Calibri" pitchFamily="34" charset="0"/>
                <a:ea typeface="Calibri" pitchFamily="34" charset="-122"/>
                <a:cs typeface="Calibri" pitchFamily="34" charset="-120"/>
              </a:rPr>
              <a:t>Measured with make eval and make bench · Apple M3 Pro host, Docker VM with 2 vCPU / 4 GB shared by all engines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PERFORMANCE · SCALABILITY</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1× → 200×: store queries stay flat</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13</a:t>
            </a:r>
            <a:endParaRPr lang="en-US" sz="800" dirty="0"/>
          </a:p>
        </p:txBody>
      </p:sp>
      <p:pic>
        <p:nvPicPr>
          <p:cNvPr id="8" name="Image 0" descr="/Users/shivansh/Desktop/nosql/review3/figures/chart_scale_stores.png">    </p:cNvPr>
          <p:cNvPicPr>
            <a:picLocks noChangeAspect="1"/>
          </p:cNvPicPr>
          <p:nvPr/>
        </p:nvPicPr>
        <p:blipFill>
          <a:blip r:embed="rId1"/>
          <a:stretch>
            <a:fillRect/>
          </a:stretch>
        </p:blipFill>
        <p:spPr>
          <a:xfrm>
            <a:off x="365760" y="1448366"/>
            <a:ext cx="5669280" cy="3001148"/>
          </a:xfrm>
          <a:prstGeom prst="rect">
            <a:avLst/>
          </a:prstGeom>
        </p:spPr>
      </p:pic>
      <p:sp>
        <p:nvSpPr>
          <p:cNvPr id="9" name="Shape 5"/>
          <p:cNvSpPr/>
          <p:nvPr/>
        </p:nvSpPr>
        <p:spPr>
          <a:xfrm>
            <a:off x="6217920" y="1234440"/>
            <a:ext cx="2468880" cy="3429000"/>
          </a:xfrm>
          <a:prstGeom prst="rect">
            <a:avLst/>
          </a:prstGeom>
          <a:solidFill>
            <a:srgbClr val="FFFFFF"/>
          </a:solidFill>
          <a:ln w="9525">
            <a:solidFill>
              <a:srgbClr val="DCDCD6"/>
            </a:solidFill>
            <a:prstDash val="solid"/>
          </a:ln>
        </p:spPr>
      </p:sp>
      <p:sp>
        <p:nvSpPr>
          <p:cNvPr id="10" name="Shape 6"/>
          <p:cNvSpPr/>
          <p:nvPr/>
        </p:nvSpPr>
        <p:spPr>
          <a:xfrm>
            <a:off x="6217920" y="1234440"/>
            <a:ext cx="64008" cy="3429000"/>
          </a:xfrm>
          <a:prstGeom prst="rect">
            <a:avLst/>
          </a:prstGeom>
          <a:solidFill>
            <a:srgbClr val="0F2A47"/>
          </a:solidFill>
          <a:ln w="12700">
            <a:solidFill>
              <a:srgbClr val="0F2A47"/>
            </a:solidFill>
            <a:prstDash val="solid"/>
          </a:ln>
        </p:spPr>
      </p:sp>
      <p:sp>
        <p:nvSpPr>
          <p:cNvPr id="11" name="Text 7"/>
          <p:cNvSpPr/>
          <p:nvPr/>
        </p:nvSpPr>
        <p:spPr>
          <a:xfrm>
            <a:off x="6400800" y="1325880"/>
            <a:ext cx="2194560" cy="292608"/>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At 200× (15,012 nodes)</a:t>
            </a:r>
            <a:endParaRPr lang="en-US" sz="1300" dirty="0"/>
          </a:p>
        </p:txBody>
      </p:sp>
      <p:sp>
        <p:nvSpPr>
          <p:cNvPr id="12" name="Text 8"/>
          <p:cNvSpPr/>
          <p:nvPr/>
        </p:nvSpPr>
        <p:spPr>
          <a:xfrm>
            <a:off x="6400800" y="1636776"/>
            <a:ext cx="2194560" cy="295351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Neo4j 2-hop p95  10.8 ms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MongoDB by actor  1.15 ms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Qdrant k-NN  5.58 ms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Redis GET  0.36 ms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Entity linking  0.79 ms</a:t>
            </a:r>
            <a:endParaRPr lang="en-US" sz="1150" dirty="0"/>
          </a:p>
          <a:p>
            <a:pPr indent="0" marL="0">
              <a:spcAft>
                <a:spcPts val="300"/>
              </a:spcAft>
              <a:buNone/>
            </a:pP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Evidence capped at 60 edges by the hub budget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PERFORMANCE · WHAT THE BENCHMARK FOUND</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Four defects, invisible at seed scale</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14</a:t>
            </a:r>
            <a:endParaRPr lang="en-US" sz="800" dirty="0"/>
          </a:p>
        </p:txBody>
      </p:sp>
      <p:pic>
        <p:nvPicPr>
          <p:cNvPr id="8" name="Image 0" descr="/Users/shivansh/Desktop/nosql/review3/figures/chart_scale_fix.png">    </p:cNvPr>
          <p:cNvPicPr>
            <a:picLocks noChangeAspect="1"/>
          </p:cNvPicPr>
          <p:nvPr/>
        </p:nvPicPr>
        <p:blipFill>
          <a:blip r:embed="rId1"/>
          <a:stretch>
            <a:fillRect/>
          </a:stretch>
        </p:blipFill>
        <p:spPr>
          <a:xfrm>
            <a:off x="365760" y="1213213"/>
            <a:ext cx="5120640" cy="1962694"/>
          </a:xfrm>
          <a:prstGeom prst="rect">
            <a:avLst/>
          </a:prstGeom>
        </p:spPr>
      </p:pic>
      <p:sp>
        <p:nvSpPr>
          <p:cNvPr id="9" name="Text 5"/>
          <p:cNvSpPr/>
          <p:nvPr/>
        </p:nvSpPr>
        <p:spPr>
          <a:xfrm>
            <a:off x="457200" y="3383280"/>
            <a:ext cx="4206240" cy="292608"/>
          </a:xfrm>
          <a:prstGeom prst="rect">
            <a:avLst/>
          </a:prstGeom>
          <a:noFill/>
          <a:ln/>
        </p:spPr>
        <p:txBody>
          <a:bodyPr wrap="square" lIns="0" tIns="0" rIns="0" bIns="0" rtlCol="0" anchor="ctr"/>
          <a:lstStyle/>
          <a:p>
            <a:pPr indent="0" marL="0">
              <a:buNone/>
            </a:pPr>
            <a:r>
              <a:rPr lang="en-US" sz="1100" b="1" dirty="0">
                <a:solidFill>
                  <a:srgbClr val="0F2A47"/>
                </a:solidFill>
                <a:latin typeface="Calibri" pitchFamily="34" charset="0"/>
                <a:ea typeface="Calibri" pitchFamily="34" charset="-122"/>
                <a:cs typeface="Calibri" pitchFamily="34" charset="-120"/>
              </a:rPr>
              <a:t>Linear entity linking </a:t>
            </a:r>
            <a:pPr indent="0" marL="0">
              <a:buNone/>
            </a:pPr>
            <a:r>
              <a:rPr lang="en-US" sz="1100" dirty="0">
                <a:solidFill>
                  <a:srgbClr val="1A1F26"/>
                </a:solidFill>
                <a:latin typeface="Calibri" pitchFamily="34" charset="0"/>
                <a:ea typeface="Calibri" pitchFamily="34" charset="-122"/>
                <a:cs typeface="Calibri" pitchFamily="34" charset="-120"/>
              </a:rPr>
              <a:t>→ inverted index</a:t>
            </a:r>
            <a:endParaRPr lang="en-US" sz="1100" dirty="0"/>
          </a:p>
        </p:txBody>
      </p:sp>
      <p:sp>
        <p:nvSpPr>
          <p:cNvPr id="10" name="Text 6"/>
          <p:cNvSpPr/>
          <p:nvPr/>
        </p:nvSpPr>
        <p:spPr>
          <a:xfrm>
            <a:off x="4663440" y="3383280"/>
            <a:ext cx="1737360" cy="292608"/>
          </a:xfrm>
          <a:prstGeom prst="rect">
            <a:avLst/>
          </a:prstGeom>
          <a:noFill/>
          <a:ln/>
        </p:spPr>
        <p:txBody>
          <a:bodyPr wrap="square" lIns="0" tIns="0" rIns="0" bIns="0" rtlCol="0" anchor="ctr"/>
          <a:lstStyle/>
          <a:p>
            <a:pPr indent="0" marL="0">
              <a:buNone/>
            </a:pPr>
            <a:r>
              <a:rPr lang="en-US" sz="1100" b="1" dirty="0">
                <a:solidFill>
                  <a:srgbClr val="1B5E40"/>
                </a:solidFill>
                <a:latin typeface="Calibri" pitchFamily="34" charset="0"/>
                <a:ea typeface="Calibri" pitchFamily="34" charset="-122"/>
                <a:cs typeface="Calibri" pitchFamily="34" charset="-120"/>
              </a:rPr>
              <a:t>379 ms → 0.06 ms</a:t>
            </a:r>
            <a:endParaRPr lang="en-US" sz="1100" dirty="0"/>
          </a:p>
        </p:txBody>
      </p:sp>
      <p:sp>
        <p:nvSpPr>
          <p:cNvPr id="11" name="Text 7"/>
          <p:cNvSpPr/>
          <p:nvPr/>
        </p:nvSpPr>
        <p:spPr>
          <a:xfrm>
            <a:off x="457200" y="3721608"/>
            <a:ext cx="4206240" cy="292608"/>
          </a:xfrm>
          <a:prstGeom prst="rect">
            <a:avLst/>
          </a:prstGeom>
          <a:noFill/>
          <a:ln/>
        </p:spPr>
        <p:txBody>
          <a:bodyPr wrap="square" lIns="0" tIns="0" rIns="0" bIns="0" rtlCol="0" anchor="ctr"/>
          <a:lstStyle/>
          <a:p>
            <a:pPr indent="0" marL="0">
              <a:buNone/>
            </a:pPr>
            <a:r>
              <a:rPr lang="en-US" sz="1100" b="1" dirty="0">
                <a:solidFill>
                  <a:srgbClr val="0F2A47"/>
                </a:solidFill>
                <a:latin typeface="Calibri" pitchFamily="34" charset="0"/>
                <a:ea typeface="Calibri" pitchFamily="34" charset="-122"/>
                <a:cs typeface="Calibri" pitchFamily="34" charset="-120"/>
              </a:rPr>
              <a:t>Unbounded query + N+1 full scans </a:t>
            </a:r>
            <a:pPr indent="0" marL="0">
              <a:buNone/>
            </a:pPr>
            <a:r>
              <a:rPr lang="en-US" sz="1100" dirty="0">
                <a:solidFill>
                  <a:srgbClr val="1A1F26"/>
                </a:solidFill>
                <a:latin typeface="Calibri" pitchFamily="34" charset="0"/>
                <a:ea typeface="Calibri" pitchFamily="34" charset="-122"/>
                <a:cs typeface="Calibri" pitchFamily="34" charset="-120"/>
              </a:rPr>
              <a:t>→ LIMIT + batched index seeks</a:t>
            </a:r>
            <a:endParaRPr lang="en-US" sz="1100" dirty="0"/>
          </a:p>
        </p:txBody>
      </p:sp>
      <p:sp>
        <p:nvSpPr>
          <p:cNvPr id="12" name="Text 8"/>
          <p:cNvSpPr/>
          <p:nvPr/>
        </p:nvSpPr>
        <p:spPr>
          <a:xfrm>
            <a:off x="4663440" y="3721608"/>
            <a:ext cx="1737360" cy="292608"/>
          </a:xfrm>
          <a:prstGeom prst="rect">
            <a:avLst/>
          </a:prstGeom>
          <a:noFill/>
          <a:ln/>
        </p:spPr>
        <p:txBody>
          <a:bodyPr wrap="square" lIns="0" tIns="0" rIns="0" bIns="0" rtlCol="0" anchor="ctr"/>
          <a:lstStyle/>
          <a:p>
            <a:pPr indent="0" marL="0">
              <a:buNone/>
            </a:pPr>
            <a:r>
              <a:rPr lang="en-US" sz="1100" b="1" dirty="0">
                <a:solidFill>
                  <a:srgbClr val="1B5E40"/>
                </a:solidFill>
                <a:latin typeface="Calibri" pitchFamily="34" charset="0"/>
                <a:ea typeface="Calibri" pitchFamily="34" charset="-122"/>
                <a:cs typeface="Calibri" pitchFamily="34" charset="-120"/>
              </a:rPr>
              <a:t>p95 14.7 s → 185 ms</a:t>
            </a:r>
            <a:endParaRPr lang="en-US" sz="1100" dirty="0"/>
          </a:p>
        </p:txBody>
      </p:sp>
      <p:sp>
        <p:nvSpPr>
          <p:cNvPr id="13" name="Text 9"/>
          <p:cNvSpPr/>
          <p:nvPr/>
        </p:nvSpPr>
        <p:spPr>
          <a:xfrm>
            <a:off x="457200" y="4059936"/>
            <a:ext cx="4206240" cy="292608"/>
          </a:xfrm>
          <a:prstGeom prst="rect">
            <a:avLst/>
          </a:prstGeom>
          <a:noFill/>
          <a:ln/>
        </p:spPr>
        <p:txBody>
          <a:bodyPr wrap="square" lIns="0" tIns="0" rIns="0" bIns="0" rtlCol="0" anchor="ctr"/>
          <a:lstStyle/>
          <a:p>
            <a:pPr indent="0" marL="0">
              <a:buNone/>
            </a:pPr>
            <a:r>
              <a:rPr lang="en-US" sz="1100" b="1" dirty="0">
                <a:solidFill>
                  <a:srgbClr val="0F2A47"/>
                </a:solidFill>
                <a:latin typeface="Calibri" pitchFamily="34" charset="0"/>
                <a:ea typeface="Calibri" pitchFamily="34" charset="-122"/>
                <a:cs typeface="Calibri" pitchFamily="34" charset="-120"/>
              </a:rPr>
              <a:t>Whole-graph join on ingest </a:t>
            </a:r>
            <a:pPr indent="0" marL="0">
              <a:buNone/>
            </a:pPr>
            <a:r>
              <a:rPr lang="en-US" sz="1100" dirty="0">
                <a:solidFill>
                  <a:srgbClr val="1A1F26"/>
                </a:solidFill>
                <a:latin typeface="Calibri" pitchFamily="34" charset="0"/>
                <a:ea typeface="Calibri" pitchFamily="34" charset="-122"/>
                <a:cs typeface="Calibri" pitchFamily="34" charset="-120"/>
              </a:rPr>
              <a:t>→ plan-scoped join</a:t>
            </a:r>
            <a:endParaRPr lang="en-US" sz="1100" dirty="0"/>
          </a:p>
        </p:txBody>
      </p:sp>
      <p:sp>
        <p:nvSpPr>
          <p:cNvPr id="14" name="Text 10"/>
          <p:cNvSpPr/>
          <p:nvPr/>
        </p:nvSpPr>
        <p:spPr>
          <a:xfrm>
            <a:off x="4663440" y="4059936"/>
            <a:ext cx="1737360" cy="292608"/>
          </a:xfrm>
          <a:prstGeom prst="rect">
            <a:avLst/>
          </a:prstGeom>
          <a:noFill/>
          <a:ln/>
        </p:spPr>
        <p:txBody>
          <a:bodyPr wrap="square" lIns="0" tIns="0" rIns="0" bIns="0" rtlCol="0" anchor="ctr"/>
          <a:lstStyle/>
          <a:p>
            <a:pPr indent="0" marL="0">
              <a:buNone/>
            </a:pPr>
            <a:r>
              <a:rPr lang="en-US" sz="1100" b="1" dirty="0">
                <a:solidFill>
                  <a:srgbClr val="1B5E40"/>
                </a:solidFill>
                <a:latin typeface="Calibri" pitchFamily="34" charset="0"/>
                <a:ea typeface="Calibri" pitchFamily="34" charset="-122"/>
                <a:cs typeface="Calibri" pitchFamily="34" charset="-120"/>
              </a:rPr>
              <a:t>1.5 → 31.6 reports/s</a:t>
            </a:r>
            <a:endParaRPr lang="en-US" sz="1100" dirty="0"/>
          </a:p>
        </p:txBody>
      </p:sp>
      <p:sp>
        <p:nvSpPr>
          <p:cNvPr id="15" name="Text 11"/>
          <p:cNvSpPr/>
          <p:nvPr/>
        </p:nvSpPr>
        <p:spPr>
          <a:xfrm>
            <a:off x="457200" y="4398264"/>
            <a:ext cx="4206240" cy="292608"/>
          </a:xfrm>
          <a:prstGeom prst="rect">
            <a:avLst/>
          </a:prstGeom>
          <a:noFill/>
          <a:ln/>
        </p:spPr>
        <p:txBody>
          <a:bodyPr wrap="square" lIns="0" tIns="0" rIns="0" bIns="0" rtlCol="0" anchor="ctr"/>
          <a:lstStyle/>
          <a:p>
            <a:pPr indent="0" marL="0">
              <a:buNone/>
            </a:pPr>
            <a:r>
              <a:rPr lang="en-US" sz="1100" b="1" dirty="0">
                <a:solidFill>
                  <a:srgbClr val="0F2A47"/>
                </a:solidFill>
                <a:latin typeface="Calibri" pitchFamily="34" charset="0"/>
                <a:ea typeface="Calibri" pitchFamily="34" charset="-122"/>
                <a:cs typeface="Calibri" pitchFamily="34" charset="-120"/>
              </a:rPr>
              <a:t>Shared vector client under load </a:t>
            </a:r>
            <a:pPr indent="0" marL="0">
              <a:buNone/>
            </a:pPr>
            <a:r>
              <a:rPr lang="en-US" sz="1100" dirty="0">
                <a:solidFill>
                  <a:srgbClr val="1A1F26"/>
                </a:solidFill>
                <a:latin typeface="Calibri" pitchFamily="34" charset="0"/>
                <a:ea typeface="Calibri" pitchFamily="34" charset="-122"/>
                <a:cs typeface="Calibri" pitchFamily="34" charset="-120"/>
              </a:rPr>
              <a:t>→ one client per thread</a:t>
            </a:r>
            <a:endParaRPr lang="en-US" sz="1100" dirty="0"/>
          </a:p>
        </p:txBody>
      </p:sp>
      <p:sp>
        <p:nvSpPr>
          <p:cNvPr id="16" name="Text 12"/>
          <p:cNvSpPr/>
          <p:nvPr/>
        </p:nvSpPr>
        <p:spPr>
          <a:xfrm>
            <a:off x="4663440" y="4398264"/>
            <a:ext cx="1737360" cy="292608"/>
          </a:xfrm>
          <a:prstGeom prst="rect">
            <a:avLst/>
          </a:prstGeom>
          <a:noFill/>
          <a:ln/>
        </p:spPr>
        <p:txBody>
          <a:bodyPr wrap="square" lIns="0" tIns="0" rIns="0" bIns="0" rtlCol="0" anchor="ctr"/>
          <a:lstStyle/>
          <a:p>
            <a:pPr indent="0" marL="0">
              <a:buNone/>
            </a:pPr>
            <a:r>
              <a:rPr lang="en-US" sz="1100" b="1" dirty="0">
                <a:solidFill>
                  <a:srgbClr val="1B5E40"/>
                </a:solidFill>
                <a:latin typeface="Calibri" pitchFamily="34" charset="0"/>
                <a:ea typeface="Calibri" pitchFamily="34" charset="-122"/>
                <a:cs typeface="Calibri" pitchFamily="34" charset="-120"/>
              </a:rPr>
              <a:t>HTTP 500 → 0 errors</a:t>
            </a:r>
            <a:endParaRPr lang="en-US" sz="1100" dirty="0"/>
          </a:p>
        </p:txBody>
      </p:sp>
      <p:sp>
        <p:nvSpPr>
          <p:cNvPr id="17" name="Shape 13"/>
          <p:cNvSpPr/>
          <p:nvPr/>
        </p:nvSpPr>
        <p:spPr>
          <a:xfrm>
            <a:off x="6583680" y="1234440"/>
            <a:ext cx="2103120" cy="3429000"/>
          </a:xfrm>
          <a:prstGeom prst="rect">
            <a:avLst/>
          </a:prstGeom>
          <a:solidFill>
            <a:srgbClr val="FFFFFF"/>
          </a:solidFill>
          <a:ln w="9525">
            <a:solidFill>
              <a:srgbClr val="DCDCD6"/>
            </a:solidFill>
            <a:prstDash val="solid"/>
          </a:ln>
        </p:spPr>
      </p:sp>
      <p:sp>
        <p:nvSpPr>
          <p:cNvPr id="18" name="Shape 14"/>
          <p:cNvSpPr/>
          <p:nvPr/>
        </p:nvSpPr>
        <p:spPr>
          <a:xfrm>
            <a:off x="6583680" y="1234440"/>
            <a:ext cx="64008" cy="3429000"/>
          </a:xfrm>
          <a:prstGeom prst="rect">
            <a:avLst/>
          </a:prstGeom>
          <a:solidFill>
            <a:srgbClr val="9A6700"/>
          </a:solidFill>
          <a:ln w="12700">
            <a:solidFill>
              <a:srgbClr val="9A6700"/>
            </a:solidFill>
            <a:prstDash val="solid"/>
          </a:ln>
        </p:spPr>
      </p:sp>
      <p:sp>
        <p:nvSpPr>
          <p:cNvPr id="19" name="Text 15"/>
          <p:cNvSpPr/>
          <p:nvPr/>
        </p:nvSpPr>
        <p:spPr>
          <a:xfrm>
            <a:off x="6766560" y="1325880"/>
            <a:ext cx="1828800" cy="292608"/>
          </a:xfrm>
          <a:prstGeom prst="rect">
            <a:avLst/>
          </a:prstGeom>
          <a:noFill/>
          <a:ln/>
        </p:spPr>
        <p:txBody>
          <a:bodyPr wrap="square" lIns="0" tIns="0" rIns="0" bIns="0" rtlCol="0" anchor="ctr"/>
          <a:lstStyle/>
          <a:p>
            <a:pPr indent="0" marL="0">
              <a:buNone/>
            </a:pPr>
            <a:r>
              <a:rPr lang="en-US" sz="1300" b="1" dirty="0">
                <a:solidFill>
                  <a:srgbClr val="9A6700"/>
                </a:solidFill>
                <a:latin typeface="Calibri" pitchFamily="34" charset="0"/>
                <a:ea typeface="Calibri" pitchFamily="34" charset="-122"/>
                <a:cs typeface="Calibri" pitchFamily="34" charset="-120"/>
              </a:rPr>
              <a:t>At 200×</a:t>
            </a:r>
            <a:endParaRPr lang="en-US" sz="1300" dirty="0"/>
          </a:p>
        </p:txBody>
      </p:sp>
      <p:sp>
        <p:nvSpPr>
          <p:cNvPr id="20" name="Text 16"/>
          <p:cNvSpPr/>
          <p:nvPr/>
        </p:nvSpPr>
        <p:spPr>
          <a:xfrm>
            <a:off x="6766560" y="1636776"/>
            <a:ext cx="1828800" cy="2953512"/>
          </a:xfrm>
          <a:prstGeom prst="rect">
            <a:avLst/>
          </a:prstGeom>
          <a:noFill/>
          <a:ln/>
        </p:spPr>
        <p:txBody>
          <a:bodyPr wrap="square" lIns="0" tIns="0" rIns="0" bIns="0" rtlCol="0" anchor="t"/>
          <a:lstStyle/>
          <a:p>
            <a:pPr indent="0" marL="0">
              <a:spcAft>
                <a:spcPts val="300"/>
              </a:spcAft>
              <a:buNone/>
            </a:pPr>
            <a:r>
              <a:rPr lang="en-US" sz="1200" dirty="0">
                <a:solidFill>
                  <a:srgbClr val="1A1F26"/>
                </a:solidFill>
                <a:latin typeface="Calibri" pitchFamily="34" charset="0"/>
                <a:ea typeface="Calibri" pitchFamily="34" charset="-122"/>
                <a:cs typeface="Calibri" pitchFamily="34" charset="-120"/>
              </a:rPr>
              <a:t>retrieval median</a:t>
            </a:r>
            <a:endParaRPr lang="en-US" sz="1200" dirty="0"/>
          </a:p>
          <a:p>
            <a:pPr indent="0" marL="0">
              <a:spcAft>
                <a:spcPts val="300"/>
              </a:spcAft>
              <a:buNone/>
            </a:pPr>
            <a:r>
              <a:rPr lang="en-US" sz="1200" dirty="0">
                <a:solidFill>
                  <a:srgbClr val="1A1F26"/>
                </a:solidFill>
                <a:latin typeface="Calibri" pitchFamily="34" charset="0"/>
                <a:ea typeface="Calibri" pitchFamily="34" charset="-122"/>
                <a:cs typeface="Calibri" pitchFamily="34" charset="-120"/>
              </a:rPr>
              <a:t>675 ms → 65.4 ms</a:t>
            </a:r>
            <a:endParaRPr lang="en-US" sz="1200" dirty="0"/>
          </a:p>
          <a:p>
            <a:pPr indent="0" marL="0">
              <a:spcAft>
                <a:spcPts val="300"/>
              </a:spcAft>
              <a:buNone/>
            </a:pPr>
            <a:endParaRPr lang="en-US" sz="1200" dirty="0"/>
          </a:p>
          <a:p>
            <a:pPr indent="0" marL="0">
              <a:spcAft>
                <a:spcPts val="300"/>
              </a:spcAft>
              <a:buNone/>
            </a:pPr>
            <a:r>
              <a:rPr lang="en-US" sz="1200" dirty="0">
                <a:solidFill>
                  <a:srgbClr val="1A1F26"/>
                </a:solidFill>
                <a:latin typeface="Calibri" pitchFamily="34" charset="0"/>
                <a:ea typeface="Calibri" pitchFamily="34" charset="-122"/>
                <a:cs typeface="Calibri" pitchFamily="34" charset="-120"/>
              </a:rPr>
              <a:t>retrieval p95</a:t>
            </a:r>
            <a:endParaRPr lang="en-US" sz="1200" dirty="0"/>
          </a:p>
          <a:p>
            <a:pPr indent="0" marL="0">
              <a:spcAft>
                <a:spcPts val="300"/>
              </a:spcAft>
              <a:buNone/>
            </a:pPr>
            <a:r>
              <a:rPr lang="en-US" sz="1200" dirty="0">
                <a:solidFill>
                  <a:srgbClr val="1A1F26"/>
                </a:solidFill>
                <a:latin typeface="Calibri" pitchFamily="34" charset="0"/>
                <a:ea typeface="Calibri" pitchFamily="34" charset="-122"/>
                <a:cs typeface="Calibri" pitchFamily="34" charset="-120"/>
              </a:rPr>
              <a:t>14.7 s → 185 ms</a:t>
            </a:r>
            <a:endParaRPr lang="en-US" sz="1200" dirty="0"/>
          </a:p>
          <a:p>
            <a:pPr indent="0" marL="0">
              <a:spcAft>
                <a:spcPts val="300"/>
              </a:spcAft>
              <a:buNone/>
            </a:pPr>
            <a:endParaRPr lang="en-US" sz="1200" dirty="0"/>
          </a:p>
          <a:p>
            <a:pPr indent="0" marL="0">
              <a:spcAft>
                <a:spcPts val="300"/>
              </a:spcAft>
              <a:buNone/>
            </a:pPr>
            <a:r>
              <a:rPr lang="en-US" sz="1200" dirty="0">
                <a:solidFill>
                  <a:srgbClr val="1A1F26"/>
                </a:solidFill>
                <a:latin typeface="Calibri" pitchFamily="34" charset="0"/>
                <a:ea typeface="Calibri" pitchFamily="34" charset="-122"/>
                <a:cs typeface="Calibri" pitchFamily="34" charset="-120"/>
              </a:rPr>
              <a:t>ingest</a:t>
            </a:r>
            <a:endParaRPr lang="en-US" sz="1200" dirty="0"/>
          </a:p>
          <a:p>
            <a:pPr indent="0" marL="0">
              <a:spcAft>
                <a:spcPts val="300"/>
              </a:spcAft>
              <a:buNone/>
            </a:pPr>
            <a:r>
              <a:rPr lang="en-US" sz="1200" dirty="0">
                <a:solidFill>
                  <a:srgbClr val="1A1F26"/>
                </a:solidFill>
                <a:latin typeface="Calibri" pitchFamily="34" charset="0"/>
                <a:ea typeface="Calibri" pitchFamily="34" charset="-122"/>
                <a:cs typeface="Calibri" pitchFamily="34" charset="-120"/>
              </a:rPr>
              <a:t>1.5 → 31.6 reports/s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PERFORMANCE · INDEXING</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Indexes turn scans into seeks</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15</a:t>
            </a:r>
            <a:endParaRPr lang="en-US" sz="800" dirty="0"/>
          </a:p>
        </p:txBody>
      </p:sp>
      <p:pic>
        <p:nvPicPr>
          <p:cNvPr id="8" name="Image 0" descr="/Users/shivansh/Desktop/nosql/review3/figures/chart_indexes.png">    </p:cNvPr>
          <p:cNvPicPr>
            <a:picLocks noChangeAspect="1"/>
          </p:cNvPicPr>
          <p:nvPr/>
        </p:nvPicPr>
        <p:blipFill>
          <a:blip r:embed="rId1"/>
          <a:stretch>
            <a:fillRect/>
          </a:stretch>
        </p:blipFill>
        <p:spPr>
          <a:xfrm>
            <a:off x="365760" y="1404768"/>
            <a:ext cx="5852160" cy="2219663"/>
          </a:xfrm>
          <a:prstGeom prst="rect">
            <a:avLst/>
          </a:prstGeom>
        </p:spPr>
      </p:pic>
      <p:sp>
        <p:nvSpPr>
          <p:cNvPr id="9" name="Text 5"/>
          <p:cNvSpPr/>
          <p:nvPr/>
        </p:nvSpPr>
        <p:spPr>
          <a:xfrm>
            <a:off x="6400800" y="1280160"/>
            <a:ext cx="2286000" cy="566928"/>
          </a:xfrm>
          <a:prstGeom prst="rect">
            <a:avLst/>
          </a:prstGeom>
          <a:noFill/>
          <a:ln/>
        </p:spPr>
        <p:txBody>
          <a:bodyPr wrap="square" lIns="0" tIns="0" rIns="0" bIns="0" rtlCol="0" anchor="ctr"/>
          <a:lstStyle/>
          <a:p>
            <a:pPr indent="0" marL="0">
              <a:buNone/>
            </a:pPr>
            <a:r>
              <a:rPr lang="en-US" sz="3000" b="1" dirty="0">
                <a:solidFill>
                  <a:srgbClr val="0E5A66"/>
                </a:solidFill>
                <a:latin typeface="Georgia" pitchFamily="34" charset="0"/>
                <a:ea typeface="Georgia" pitchFamily="34" charset="-122"/>
                <a:cs typeface="Georgia" pitchFamily="34" charset="-120"/>
              </a:rPr>
              <a:t>103×</a:t>
            </a:r>
            <a:endParaRPr lang="en-US" sz="3000" dirty="0"/>
          </a:p>
        </p:txBody>
      </p:sp>
      <p:sp>
        <p:nvSpPr>
          <p:cNvPr id="10" name="Text 6"/>
          <p:cNvSpPr/>
          <p:nvPr/>
        </p:nvSpPr>
        <p:spPr>
          <a:xfrm>
            <a:off x="6400800" y="1847088"/>
            <a:ext cx="228600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MongoDB IOC lookup</a:t>
            </a:r>
            <a:endParaRPr lang="en-US" sz="1100" dirty="0"/>
          </a:p>
        </p:txBody>
      </p:sp>
      <p:sp>
        <p:nvSpPr>
          <p:cNvPr id="11" name="Text 7"/>
          <p:cNvSpPr/>
          <p:nvPr/>
        </p:nvSpPr>
        <p:spPr>
          <a:xfrm>
            <a:off x="6400800" y="2103120"/>
            <a:ext cx="228600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200,000 → 3 documents read</a:t>
            </a:r>
            <a:endParaRPr lang="en-US" sz="950" dirty="0"/>
          </a:p>
        </p:txBody>
      </p:sp>
      <p:sp>
        <p:nvSpPr>
          <p:cNvPr id="12" name="Text 8"/>
          <p:cNvSpPr/>
          <p:nvPr/>
        </p:nvSpPr>
        <p:spPr>
          <a:xfrm>
            <a:off x="6400800" y="2606040"/>
            <a:ext cx="2286000" cy="566928"/>
          </a:xfrm>
          <a:prstGeom prst="rect">
            <a:avLst/>
          </a:prstGeom>
          <a:noFill/>
          <a:ln/>
        </p:spPr>
        <p:txBody>
          <a:bodyPr wrap="square" lIns="0" tIns="0" rIns="0" bIns="0" rtlCol="0" anchor="ctr"/>
          <a:lstStyle/>
          <a:p>
            <a:pPr indent="0" marL="0">
              <a:buNone/>
            </a:pPr>
            <a:r>
              <a:rPr lang="en-US" sz="3000" b="1" dirty="0">
                <a:solidFill>
                  <a:srgbClr val="1F4E79"/>
                </a:solidFill>
                <a:latin typeface="Georgia" pitchFamily="34" charset="0"/>
                <a:ea typeface="Georgia" pitchFamily="34" charset="-122"/>
                <a:cs typeface="Georgia" pitchFamily="34" charset="-120"/>
              </a:rPr>
              <a:t>28×</a:t>
            </a:r>
            <a:endParaRPr lang="en-US" sz="3000" dirty="0"/>
          </a:p>
        </p:txBody>
      </p:sp>
      <p:sp>
        <p:nvSpPr>
          <p:cNvPr id="13" name="Text 9"/>
          <p:cNvSpPr/>
          <p:nvPr/>
        </p:nvSpPr>
        <p:spPr>
          <a:xfrm>
            <a:off x="6400800" y="3172968"/>
            <a:ext cx="228600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Neo4j lookup by value</a:t>
            </a:r>
            <a:endParaRPr lang="en-US" sz="1100" dirty="0"/>
          </a:p>
        </p:txBody>
      </p:sp>
      <p:sp>
        <p:nvSpPr>
          <p:cNvPr id="14" name="Text 10"/>
          <p:cNvSpPr/>
          <p:nvPr/>
        </p:nvSpPr>
        <p:spPr>
          <a:xfrm>
            <a:off x="6400800" y="3429000"/>
            <a:ext cx="228600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200,002 → 3 db hits</a:t>
            </a:r>
            <a:endParaRPr lang="en-US" sz="950" dirty="0"/>
          </a:p>
        </p:txBody>
      </p:sp>
      <p:sp>
        <p:nvSpPr>
          <p:cNvPr id="15" name="Text 11"/>
          <p:cNvSpPr/>
          <p:nvPr/>
        </p:nvSpPr>
        <p:spPr>
          <a:xfrm>
            <a:off x="457200" y="4069080"/>
            <a:ext cx="8229600" cy="457200"/>
          </a:xfrm>
          <a:prstGeom prst="rect">
            <a:avLst/>
          </a:prstGeom>
          <a:noFill/>
          <a:ln/>
        </p:spPr>
        <p:txBody>
          <a:bodyPr wrap="square" lIns="0" tIns="0" rIns="0" bIns="0" rtlCol="0" anchor="ctr"/>
          <a:lstStyle/>
          <a:p>
            <a:pPr indent="0" marL="0">
              <a:buNone/>
            </a:pPr>
            <a:r>
              <a:rPr lang="en-US" sz="1100" i="1" dirty="0">
                <a:solidFill>
                  <a:srgbClr val="5A6470"/>
                </a:solidFill>
                <a:latin typeface="Calibri" pitchFamily="34" charset="0"/>
                <a:ea typeface="Calibri" pitchFamily="34" charset="-122"/>
                <a:cs typeface="Calibri" pitchFamily="34" charset="-120"/>
              </a:rPr>
              <a:t>Plans verified with MongoDB explain() (COLLSCAN → IXSCAN) and Neo4j PROFILE (NodeByLabelScan → NodeIndexSeek).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PERFORMANCE · KEY–VALUE AND VECTOR</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O(1) enforcement, accurate vector search</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16</a:t>
            </a:r>
            <a:endParaRPr lang="en-US" sz="800" dirty="0"/>
          </a:p>
        </p:txBody>
      </p:sp>
      <p:sp>
        <p:nvSpPr>
          <p:cNvPr id="8" name="Shape 5"/>
          <p:cNvSpPr/>
          <p:nvPr/>
        </p:nvSpPr>
        <p:spPr>
          <a:xfrm>
            <a:off x="457200" y="1280160"/>
            <a:ext cx="2743200" cy="3383280"/>
          </a:xfrm>
          <a:prstGeom prst="rect">
            <a:avLst/>
          </a:prstGeom>
          <a:solidFill>
            <a:srgbClr val="FFFFFF"/>
          </a:solidFill>
          <a:ln w="9525">
            <a:solidFill>
              <a:srgbClr val="DCDCD6"/>
            </a:solidFill>
            <a:prstDash val="solid"/>
          </a:ln>
        </p:spPr>
      </p:sp>
      <p:sp>
        <p:nvSpPr>
          <p:cNvPr id="9" name="Shape 6"/>
          <p:cNvSpPr/>
          <p:nvPr/>
        </p:nvSpPr>
        <p:spPr>
          <a:xfrm>
            <a:off x="457200" y="1280160"/>
            <a:ext cx="64008" cy="3383280"/>
          </a:xfrm>
          <a:prstGeom prst="rect">
            <a:avLst/>
          </a:prstGeom>
          <a:solidFill>
            <a:srgbClr val="7A2A2A"/>
          </a:solidFill>
          <a:ln w="12700">
            <a:solidFill>
              <a:srgbClr val="7A2A2A"/>
            </a:solidFill>
            <a:prstDash val="solid"/>
          </a:ln>
        </p:spPr>
      </p:sp>
      <p:sp>
        <p:nvSpPr>
          <p:cNvPr id="10" name="Text 7"/>
          <p:cNvSpPr/>
          <p:nvPr/>
        </p:nvSpPr>
        <p:spPr>
          <a:xfrm>
            <a:off x="640080" y="1371600"/>
            <a:ext cx="2468880" cy="292608"/>
          </a:xfrm>
          <a:prstGeom prst="rect">
            <a:avLst/>
          </a:prstGeom>
          <a:noFill/>
          <a:ln/>
        </p:spPr>
        <p:txBody>
          <a:bodyPr wrap="square" lIns="0" tIns="0" rIns="0" bIns="0" rtlCol="0" anchor="ctr"/>
          <a:lstStyle/>
          <a:p>
            <a:pPr indent="0" marL="0">
              <a:buNone/>
            </a:pPr>
            <a:r>
              <a:rPr lang="en-US" sz="1300" b="1" dirty="0">
                <a:solidFill>
                  <a:srgbClr val="7A2A2A"/>
                </a:solidFill>
                <a:latin typeface="Calibri" pitchFamily="34" charset="0"/>
                <a:ea typeface="Calibri" pitchFamily="34" charset="-122"/>
                <a:cs typeface="Calibri" pitchFamily="34" charset="-120"/>
              </a:rPr>
              <a:t>Redis at 500,000 keys</a:t>
            </a:r>
            <a:endParaRPr lang="en-US" sz="1300" dirty="0"/>
          </a:p>
        </p:txBody>
      </p:sp>
      <p:sp>
        <p:nvSpPr>
          <p:cNvPr id="11" name="Text 8"/>
          <p:cNvSpPr/>
          <p:nvPr/>
        </p:nvSpPr>
        <p:spPr>
          <a:xfrm>
            <a:off x="640080" y="1737360"/>
            <a:ext cx="2468880" cy="566928"/>
          </a:xfrm>
          <a:prstGeom prst="rect">
            <a:avLst/>
          </a:prstGeom>
          <a:noFill/>
          <a:ln/>
        </p:spPr>
        <p:txBody>
          <a:bodyPr wrap="square" lIns="0" tIns="0" rIns="0" bIns="0" rtlCol="0" anchor="ctr"/>
          <a:lstStyle/>
          <a:p>
            <a:pPr indent="0" marL="0">
              <a:buNone/>
            </a:pPr>
            <a:r>
              <a:rPr lang="en-US" sz="3000" b="1" dirty="0">
                <a:solidFill>
                  <a:srgbClr val="7A2A2A"/>
                </a:solidFill>
                <a:latin typeface="Georgia" pitchFamily="34" charset="0"/>
                <a:ea typeface="Georgia" pitchFamily="34" charset="-122"/>
                <a:cs typeface="Georgia" pitchFamily="34" charset="-120"/>
              </a:rPr>
              <a:t>0.29 ms</a:t>
            </a:r>
            <a:endParaRPr lang="en-US" sz="3000" dirty="0"/>
          </a:p>
        </p:txBody>
      </p:sp>
      <p:sp>
        <p:nvSpPr>
          <p:cNvPr id="12" name="Text 9"/>
          <p:cNvSpPr/>
          <p:nvPr/>
        </p:nvSpPr>
        <p:spPr>
          <a:xfrm>
            <a:off x="640080" y="2304288"/>
            <a:ext cx="246888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GET + TTL median</a:t>
            </a:r>
            <a:endParaRPr lang="en-US" sz="1100" dirty="0"/>
          </a:p>
        </p:txBody>
      </p:sp>
      <p:sp>
        <p:nvSpPr>
          <p:cNvPr id="13" name="Text 10"/>
          <p:cNvSpPr/>
          <p:nvPr/>
        </p:nvSpPr>
        <p:spPr>
          <a:xfrm>
            <a:off x="640080" y="2560320"/>
            <a:ext cx="246888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p99 0.53 ms · flat from 1k keys</a:t>
            </a:r>
            <a:endParaRPr lang="en-US" sz="950" dirty="0"/>
          </a:p>
        </p:txBody>
      </p:sp>
      <p:sp>
        <p:nvSpPr>
          <p:cNvPr id="14" name="Text 11"/>
          <p:cNvSpPr/>
          <p:nvPr/>
        </p:nvSpPr>
        <p:spPr>
          <a:xfrm>
            <a:off x="640080" y="3063240"/>
            <a:ext cx="2468880" cy="566928"/>
          </a:xfrm>
          <a:prstGeom prst="rect">
            <a:avLst/>
          </a:prstGeom>
          <a:noFill/>
          <a:ln/>
        </p:spPr>
        <p:txBody>
          <a:bodyPr wrap="square" lIns="0" tIns="0" rIns="0" bIns="0" rtlCol="0" anchor="ctr"/>
          <a:lstStyle/>
          <a:p>
            <a:pPr indent="0" marL="0">
              <a:buNone/>
            </a:pPr>
            <a:r>
              <a:rPr lang="en-US" sz="3000" b="1" dirty="0">
                <a:solidFill>
                  <a:srgbClr val="9A6700"/>
                </a:solidFill>
                <a:latin typeface="Georgia" pitchFamily="34" charset="0"/>
                <a:ea typeface="Georgia" pitchFamily="34" charset="-122"/>
                <a:cs typeface="Georgia" pitchFamily="34" charset="-120"/>
              </a:rPr>
              <a:t>1.0 s</a:t>
            </a:r>
            <a:endParaRPr lang="en-US" sz="3000" dirty="0"/>
          </a:p>
        </p:txBody>
      </p:sp>
      <p:sp>
        <p:nvSpPr>
          <p:cNvPr id="15" name="Text 12"/>
          <p:cNvSpPr/>
          <p:nvPr/>
        </p:nvSpPr>
        <p:spPr>
          <a:xfrm>
            <a:off x="640080" y="3630168"/>
            <a:ext cx="2468880" cy="274320"/>
          </a:xfrm>
          <a:prstGeom prst="rect">
            <a:avLst/>
          </a:prstGeom>
          <a:noFill/>
          <a:ln/>
        </p:spPr>
        <p:txBody>
          <a:bodyPr wrap="square" lIns="0" tIns="0" rIns="0" bIns="0" rtlCol="0" anchor="ctr"/>
          <a:lstStyle/>
          <a:p>
            <a:pPr indent="0" marL="0">
              <a:buNone/>
            </a:pPr>
            <a:r>
              <a:rPr lang="en-US" sz="1100" b="1" dirty="0">
                <a:solidFill>
                  <a:srgbClr val="1A1F26"/>
                </a:solidFill>
                <a:latin typeface="Calibri" pitchFamily="34" charset="0"/>
                <a:ea typeface="Calibri" pitchFamily="34" charset="-122"/>
                <a:cs typeface="Calibri" pitchFamily="34" charset="-120"/>
              </a:rPr>
              <a:t>full SCAN (non-key lookup)</a:t>
            </a:r>
            <a:endParaRPr lang="en-US" sz="1100" dirty="0"/>
          </a:p>
        </p:txBody>
      </p:sp>
      <p:sp>
        <p:nvSpPr>
          <p:cNvPr id="16" name="Text 13"/>
          <p:cNvSpPr/>
          <p:nvPr/>
        </p:nvSpPr>
        <p:spPr>
          <a:xfrm>
            <a:off x="640080" y="3886200"/>
            <a:ext cx="2468880" cy="384048"/>
          </a:xfrm>
          <a:prstGeom prst="rect">
            <a:avLst/>
          </a:prstGeom>
          <a:noFill/>
          <a:ln/>
        </p:spPr>
        <p:txBody>
          <a:bodyPr wrap="square" lIns="0" tIns="0" rIns="0" bIns="0" rtlCol="0" anchor="t"/>
          <a:lstStyle/>
          <a:p>
            <a:pPr indent="0" marL="0">
              <a:buNone/>
            </a:pPr>
            <a:r>
              <a:rPr lang="en-US" sz="950" dirty="0">
                <a:solidFill>
                  <a:srgbClr val="5A6470"/>
                </a:solidFill>
                <a:latin typeface="Calibri" pitchFamily="34" charset="0"/>
                <a:ea typeface="Calibri" pitchFamily="34" charset="-122"/>
                <a:cs typeface="Calibri" pitchFamily="34" charset="-120"/>
              </a:rPr>
              <a:t>grows linearly · 191.6 MB memory</a:t>
            </a:r>
            <a:endParaRPr lang="en-US" sz="950" dirty="0"/>
          </a:p>
        </p:txBody>
      </p:sp>
      <p:pic>
        <p:nvPicPr>
          <p:cNvPr id="17" name="Image 0" descr="/Users/shivansh/Desktop/nosql/review3/figures/chart_qdrant.png">    </p:cNvPr>
          <p:cNvPicPr>
            <a:picLocks noChangeAspect="1"/>
          </p:cNvPicPr>
          <p:nvPr/>
        </p:nvPicPr>
        <p:blipFill>
          <a:blip r:embed="rId1"/>
          <a:stretch>
            <a:fillRect/>
          </a:stretch>
        </p:blipFill>
        <p:spPr>
          <a:xfrm>
            <a:off x="3383280" y="1664421"/>
            <a:ext cx="5303520" cy="1974678"/>
          </a:xfrm>
          <a:prstGeom prst="rect">
            <a:avLst/>
          </a:prstGeom>
        </p:spPr>
      </p:pic>
      <p:sp>
        <p:nvSpPr>
          <p:cNvPr id="18" name="Text 14"/>
          <p:cNvSpPr/>
          <p:nvPr/>
        </p:nvSpPr>
        <p:spPr>
          <a:xfrm>
            <a:off x="3383280" y="4114800"/>
            <a:ext cx="5303520" cy="457200"/>
          </a:xfrm>
          <a:prstGeom prst="rect">
            <a:avLst/>
          </a:prstGeom>
          <a:noFill/>
          <a:ln/>
        </p:spPr>
        <p:txBody>
          <a:bodyPr wrap="square" lIns="0" tIns="0" rIns="0" bIns="0" rtlCol="0" anchor="ctr"/>
          <a:lstStyle/>
          <a:p>
            <a:pPr indent="0" marL="0">
              <a:buNone/>
            </a:pPr>
            <a:r>
              <a:rPr lang="en-US" sz="1100" b="1" dirty="0">
                <a:solidFill>
                  <a:srgbClr val="48306B"/>
                </a:solidFill>
                <a:latin typeface="Calibri" pitchFamily="34" charset="0"/>
                <a:ea typeface="Calibri" pitchFamily="34" charset="-122"/>
                <a:cs typeface="Calibri" pitchFamily="34" charset="-120"/>
              </a:rPr>
              <a:t>Qdrant, 100,000 points: HNSW 2.26 ms vs exact 4.33 ms · recall@10 0.999 (ef 64)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PERFORMANCE · CONCURRENCY</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One worker: ~1,500 checks/s, then queueing</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17</a:t>
            </a:r>
            <a:endParaRPr lang="en-US" sz="800" dirty="0"/>
          </a:p>
        </p:txBody>
      </p:sp>
      <p:pic>
        <p:nvPicPr>
          <p:cNvPr id="8" name="Image 0" descr="/Users/shivansh/Desktop/nosql/review3/figures/chart_load.png">    </p:cNvPr>
          <p:cNvPicPr>
            <a:picLocks noChangeAspect="1"/>
          </p:cNvPicPr>
          <p:nvPr/>
        </p:nvPicPr>
        <p:blipFill>
          <a:blip r:embed="rId1"/>
          <a:stretch>
            <a:fillRect/>
          </a:stretch>
        </p:blipFill>
        <p:spPr>
          <a:xfrm>
            <a:off x="365760" y="1747416"/>
            <a:ext cx="5852160" cy="2357328"/>
          </a:xfrm>
          <a:prstGeom prst="rect">
            <a:avLst/>
          </a:prstGeom>
        </p:spPr>
      </p:pic>
      <p:sp>
        <p:nvSpPr>
          <p:cNvPr id="9" name="Shape 5"/>
          <p:cNvSpPr/>
          <p:nvPr/>
        </p:nvSpPr>
        <p:spPr>
          <a:xfrm>
            <a:off x="6400800" y="1234440"/>
            <a:ext cx="2286000" cy="3429000"/>
          </a:xfrm>
          <a:prstGeom prst="rect">
            <a:avLst/>
          </a:prstGeom>
          <a:solidFill>
            <a:srgbClr val="FFFFFF"/>
          </a:solidFill>
          <a:ln w="9525">
            <a:solidFill>
              <a:srgbClr val="DCDCD6"/>
            </a:solidFill>
            <a:prstDash val="solid"/>
          </a:ln>
        </p:spPr>
      </p:sp>
      <p:sp>
        <p:nvSpPr>
          <p:cNvPr id="10" name="Shape 6"/>
          <p:cNvSpPr/>
          <p:nvPr/>
        </p:nvSpPr>
        <p:spPr>
          <a:xfrm>
            <a:off x="6400800" y="1234440"/>
            <a:ext cx="64008" cy="3429000"/>
          </a:xfrm>
          <a:prstGeom prst="rect">
            <a:avLst/>
          </a:prstGeom>
          <a:solidFill>
            <a:srgbClr val="0F2A47"/>
          </a:solidFill>
          <a:ln w="12700">
            <a:solidFill>
              <a:srgbClr val="0F2A47"/>
            </a:solidFill>
            <a:prstDash val="solid"/>
          </a:ln>
        </p:spPr>
      </p:sp>
      <p:sp>
        <p:nvSpPr>
          <p:cNvPr id="11" name="Text 7"/>
          <p:cNvSpPr/>
          <p:nvPr/>
        </p:nvSpPr>
        <p:spPr>
          <a:xfrm>
            <a:off x="6583680" y="1325880"/>
            <a:ext cx="2011680" cy="292608"/>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Takeaways</a:t>
            </a:r>
            <a:endParaRPr lang="en-US" sz="1300" dirty="0"/>
          </a:p>
        </p:txBody>
      </p:sp>
      <p:sp>
        <p:nvSpPr>
          <p:cNvPr id="12" name="Text 8"/>
          <p:cNvSpPr/>
          <p:nvPr/>
        </p:nvSpPr>
        <p:spPr>
          <a:xfrm>
            <a:off x="6583680" y="1636776"/>
            <a:ext cx="2011680" cy="295351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peak 1,512 enforcement checks/s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0 errors at 64 clients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knee at 4 clients: one Python worker on 2 vCPUs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scale out with workers or replicas — the stores are not the limit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PERFORMANCE · LLM LATENCY</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From 52.3 s to 9.5 s without a GPU server</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18</a:t>
            </a:r>
            <a:endParaRPr lang="en-US" sz="800" dirty="0"/>
          </a:p>
        </p:txBody>
      </p:sp>
      <p:pic>
        <p:nvPicPr>
          <p:cNvPr id="8" name="Image 0" descr="/Users/shivansh/Desktop/nosql/review3/figures/chart_llm.png">    </p:cNvPr>
          <p:cNvPicPr>
            <a:picLocks noChangeAspect="1"/>
          </p:cNvPicPr>
          <p:nvPr/>
        </p:nvPicPr>
        <p:blipFill>
          <a:blip r:embed="rId1"/>
          <a:stretch>
            <a:fillRect/>
          </a:stretch>
        </p:blipFill>
        <p:spPr>
          <a:xfrm>
            <a:off x="365760" y="1756744"/>
            <a:ext cx="5760720" cy="2384392"/>
          </a:xfrm>
          <a:prstGeom prst="rect">
            <a:avLst/>
          </a:prstGeom>
        </p:spPr>
      </p:pic>
      <p:sp>
        <p:nvSpPr>
          <p:cNvPr id="9" name="Shape 5"/>
          <p:cNvSpPr/>
          <p:nvPr/>
        </p:nvSpPr>
        <p:spPr>
          <a:xfrm>
            <a:off x="6309360" y="1234440"/>
            <a:ext cx="2377440" cy="3429000"/>
          </a:xfrm>
          <a:prstGeom prst="rect">
            <a:avLst/>
          </a:prstGeom>
          <a:solidFill>
            <a:srgbClr val="FFFFFF"/>
          </a:solidFill>
          <a:ln w="9525">
            <a:solidFill>
              <a:srgbClr val="DCDCD6"/>
            </a:solidFill>
            <a:prstDash val="solid"/>
          </a:ln>
        </p:spPr>
      </p:sp>
      <p:sp>
        <p:nvSpPr>
          <p:cNvPr id="10" name="Shape 6"/>
          <p:cNvSpPr/>
          <p:nvPr/>
        </p:nvSpPr>
        <p:spPr>
          <a:xfrm>
            <a:off x="6309360" y="1234440"/>
            <a:ext cx="64008" cy="3429000"/>
          </a:xfrm>
          <a:prstGeom prst="rect">
            <a:avLst/>
          </a:prstGeom>
          <a:solidFill>
            <a:srgbClr val="1B5E40"/>
          </a:solidFill>
          <a:ln w="12700">
            <a:solidFill>
              <a:srgbClr val="1B5E40"/>
            </a:solidFill>
            <a:prstDash val="solid"/>
          </a:ln>
        </p:spPr>
      </p:sp>
      <p:sp>
        <p:nvSpPr>
          <p:cNvPr id="11" name="Text 7"/>
          <p:cNvSpPr/>
          <p:nvPr/>
        </p:nvSpPr>
        <p:spPr>
          <a:xfrm>
            <a:off x="6492240" y="1325880"/>
            <a:ext cx="2103120" cy="292608"/>
          </a:xfrm>
          <a:prstGeom prst="rect">
            <a:avLst/>
          </a:prstGeom>
          <a:noFill/>
          <a:ln/>
        </p:spPr>
        <p:txBody>
          <a:bodyPr wrap="square" lIns="0" tIns="0" rIns="0" bIns="0" rtlCol="0" anchor="ctr"/>
          <a:lstStyle/>
          <a:p>
            <a:pPr indent="0" marL="0">
              <a:buNone/>
            </a:pPr>
            <a:r>
              <a:rPr lang="en-US" sz="1300" b="1" dirty="0">
                <a:solidFill>
                  <a:srgbClr val="1B5E40"/>
                </a:solidFill>
                <a:latin typeface="Calibri" pitchFamily="34" charset="0"/>
                <a:ea typeface="Calibri" pitchFamily="34" charset="-122"/>
                <a:cs typeface="Calibri" pitchFamily="34" charset="-120"/>
              </a:rPr>
              <a:t>Why it got faster</a:t>
            </a:r>
            <a:endParaRPr lang="en-US" sz="1300" dirty="0"/>
          </a:p>
        </p:txBody>
      </p:sp>
      <p:sp>
        <p:nvSpPr>
          <p:cNvPr id="12" name="Text 8"/>
          <p:cNvSpPr/>
          <p:nvPr/>
        </p:nvSpPr>
        <p:spPr>
          <a:xfrm>
            <a:off x="6492240" y="1636776"/>
            <a:ext cx="2103120" cy="2953512"/>
          </a:xfrm>
          <a:prstGeom prst="rect">
            <a:avLst/>
          </a:prstGeom>
          <a:noFill/>
          <a:ln/>
        </p:spPr>
        <p:txBody>
          <a:bodyPr wrap="square" lIns="0" tIns="0" rIns="0" bIns="0" rtlCol="0" anchor="t"/>
          <a:lstStyle/>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prompt evaluation was 17 s of a 24.5 s call</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prompt budget: ~½ the characters</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output cap 320 tokens, model kept loaded</a:t>
            </a:r>
            <a:endParaRPr lang="en-US" sz="1150" dirty="0"/>
          </a:p>
          <a:p>
            <a:pPr indent="0" marL="0">
              <a:spcAft>
                <a:spcPts val="300"/>
              </a:spcAft>
              <a:buNone/>
            </a:pPr>
            <a:r>
              <a:rPr lang="en-US" sz="1150" dirty="0">
                <a:solidFill>
                  <a:srgbClr val="1A1F26"/>
                </a:solidFill>
                <a:latin typeface="Calibri" pitchFamily="34" charset="0"/>
                <a:ea typeface="Calibri" pitchFamily="34" charset="-122"/>
                <a:cs typeface="Calibri" pitchFamily="34" charset="-120"/>
              </a:rPr>
              <a:t>default llama3.2:3b; llama3.1 is one setting away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REQUIREMENTS</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All 20 requirements met, all 5 gaps closed</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19</a:t>
            </a:r>
            <a:endParaRPr lang="en-US" sz="800" dirty="0"/>
          </a:p>
        </p:txBody>
      </p:sp>
      <p:sp>
        <p:nvSpPr>
          <p:cNvPr id="8" name="Shape 5"/>
          <p:cNvSpPr/>
          <p:nvPr/>
        </p:nvSpPr>
        <p:spPr>
          <a:xfrm>
            <a:off x="457200" y="1280160"/>
            <a:ext cx="1554480" cy="384048"/>
          </a:xfrm>
          <a:prstGeom prst="rect">
            <a:avLst/>
          </a:prstGeom>
          <a:solidFill>
            <a:srgbClr val="FFFFFF"/>
          </a:solidFill>
          <a:ln w="9525">
            <a:solidFill>
              <a:srgbClr val="DCDCD6"/>
            </a:solidFill>
            <a:prstDash val="solid"/>
          </a:ln>
        </p:spPr>
      </p:sp>
      <p:sp>
        <p:nvSpPr>
          <p:cNvPr id="9" name="Shape 6"/>
          <p:cNvSpPr/>
          <p:nvPr/>
        </p:nvSpPr>
        <p:spPr>
          <a:xfrm>
            <a:off x="457200" y="1280160"/>
            <a:ext cx="54864" cy="384048"/>
          </a:xfrm>
          <a:prstGeom prst="rect">
            <a:avLst/>
          </a:prstGeom>
          <a:solidFill>
            <a:srgbClr val="0F2A47"/>
          </a:solidFill>
          <a:ln w="12700">
            <a:solidFill>
              <a:srgbClr val="0F2A47"/>
            </a:solidFill>
            <a:prstDash val="solid"/>
          </a:ln>
        </p:spPr>
      </p:sp>
      <p:sp>
        <p:nvSpPr>
          <p:cNvPr id="10" name="Text 7"/>
          <p:cNvSpPr/>
          <p:nvPr/>
        </p:nvSpPr>
        <p:spPr>
          <a:xfrm>
            <a:off x="566928" y="1280160"/>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FR1 ingest</a:t>
            </a:r>
            <a:endParaRPr lang="en-US" sz="1050" dirty="0"/>
          </a:p>
        </p:txBody>
      </p:sp>
      <p:sp>
        <p:nvSpPr>
          <p:cNvPr id="11" name="Shape 8"/>
          <p:cNvSpPr/>
          <p:nvPr/>
        </p:nvSpPr>
        <p:spPr>
          <a:xfrm>
            <a:off x="2121408" y="1280160"/>
            <a:ext cx="1554480" cy="384048"/>
          </a:xfrm>
          <a:prstGeom prst="rect">
            <a:avLst/>
          </a:prstGeom>
          <a:solidFill>
            <a:srgbClr val="FFFFFF"/>
          </a:solidFill>
          <a:ln w="9525">
            <a:solidFill>
              <a:srgbClr val="DCDCD6"/>
            </a:solidFill>
            <a:prstDash val="solid"/>
          </a:ln>
        </p:spPr>
      </p:sp>
      <p:sp>
        <p:nvSpPr>
          <p:cNvPr id="12" name="Shape 9"/>
          <p:cNvSpPr/>
          <p:nvPr/>
        </p:nvSpPr>
        <p:spPr>
          <a:xfrm>
            <a:off x="2121408" y="1280160"/>
            <a:ext cx="54864" cy="384048"/>
          </a:xfrm>
          <a:prstGeom prst="rect">
            <a:avLst/>
          </a:prstGeom>
          <a:solidFill>
            <a:srgbClr val="0F2A47"/>
          </a:solidFill>
          <a:ln w="12700">
            <a:solidFill>
              <a:srgbClr val="0F2A47"/>
            </a:solidFill>
            <a:prstDash val="solid"/>
          </a:ln>
        </p:spPr>
      </p:sp>
      <p:sp>
        <p:nvSpPr>
          <p:cNvPr id="13" name="Text 10"/>
          <p:cNvSpPr/>
          <p:nvPr/>
        </p:nvSpPr>
        <p:spPr>
          <a:xfrm>
            <a:off x="2231136" y="1280160"/>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FR2 multi-hop</a:t>
            </a:r>
            <a:endParaRPr lang="en-US" sz="1050" dirty="0"/>
          </a:p>
        </p:txBody>
      </p:sp>
      <p:sp>
        <p:nvSpPr>
          <p:cNvPr id="14" name="Shape 11"/>
          <p:cNvSpPr/>
          <p:nvPr/>
        </p:nvSpPr>
        <p:spPr>
          <a:xfrm>
            <a:off x="3785616" y="1280160"/>
            <a:ext cx="1554480" cy="384048"/>
          </a:xfrm>
          <a:prstGeom prst="rect">
            <a:avLst/>
          </a:prstGeom>
          <a:solidFill>
            <a:srgbClr val="FFFFFF"/>
          </a:solidFill>
          <a:ln w="9525">
            <a:solidFill>
              <a:srgbClr val="DCDCD6"/>
            </a:solidFill>
            <a:prstDash val="solid"/>
          </a:ln>
        </p:spPr>
      </p:sp>
      <p:sp>
        <p:nvSpPr>
          <p:cNvPr id="15" name="Shape 12"/>
          <p:cNvSpPr/>
          <p:nvPr/>
        </p:nvSpPr>
        <p:spPr>
          <a:xfrm>
            <a:off x="3785616" y="1280160"/>
            <a:ext cx="54864" cy="384048"/>
          </a:xfrm>
          <a:prstGeom prst="rect">
            <a:avLst/>
          </a:prstGeom>
          <a:solidFill>
            <a:srgbClr val="0F2A47"/>
          </a:solidFill>
          <a:ln w="12700">
            <a:solidFill>
              <a:srgbClr val="0F2A47"/>
            </a:solidFill>
            <a:prstDash val="solid"/>
          </a:ln>
        </p:spPr>
      </p:sp>
      <p:sp>
        <p:nvSpPr>
          <p:cNvPr id="16" name="Text 13"/>
          <p:cNvSpPr/>
          <p:nvPr/>
        </p:nvSpPr>
        <p:spPr>
          <a:xfrm>
            <a:off x="3895344" y="1280160"/>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FR3 blocklist</a:t>
            </a:r>
            <a:endParaRPr lang="en-US" sz="1050" dirty="0"/>
          </a:p>
        </p:txBody>
      </p:sp>
      <p:sp>
        <p:nvSpPr>
          <p:cNvPr id="17" name="Shape 14"/>
          <p:cNvSpPr/>
          <p:nvPr/>
        </p:nvSpPr>
        <p:spPr>
          <a:xfrm>
            <a:off x="5449824" y="1280160"/>
            <a:ext cx="1554480" cy="384048"/>
          </a:xfrm>
          <a:prstGeom prst="rect">
            <a:avLst/>
          </a:prstGeom>
          <a:solidFill>
            <a:srgbClr val="FFFFFF"/>
          </a:solidFill>
          <a:ln w="9525">
            <a:solidFill>
              <a:srgbClr val="DCDCD6"/>
            </a:solidFill>
            <a:prstDash val="solid"/>
          </a:ln>
        </p:spPr>
      </p:sp>
      <p:sp>
        <p:nvSpPr>
          <p:cNvPr id="18" name="Shape 15"/>
          <p:cNvSpPr/>
          <p:nvPr/>
        </p:nvSpPr>
        <p:spPr>
          <a:xfrm>
            <a:off x="5449824" y="1280160"/>
            <a:ext cx="54864" cy="384048"/>
          </a:xfrm>
          <a:prstGeom prst="rect">
            <a:avLst/>
          </a:prstGeom>
          <a:solidFill>
            <a:srgbClr val="0F2A47"/>
          </a:solidFill>
          <a:ln w="12700">
            <a:solidFill>
              <a:srgbClr val="0F2A47"/>
            </a:solidFill>
            <a:prstDash val="solid"/>
          </a:ln>
        </p:spPr>
      </p:sp>
      <p:sp>
        <p:nvSpPr>
          <p:cNvPr id="19" name="Text 16"/>
          <p:cNvSpPr/>
          <p:nvPr/>
        </p:nvSpPr>
        <p:spPr>
          <a:xfrm>
            <a:off x="5559552" y="1280160"/>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FR4 search</a:t>
            </a:r>
            <a:endParaRPr lang="en-US" sz="1050" dirty="0"/>
          </a:p>
        </p:txBody>
      </p:sp>
      <p:sp>
        <p:nvSpPr>
          <p:cNvPr id="20" name="Shape 17"/>
          <p:cNvSpPr/>
          <p:nvPr/>
        </p:nvSpPr>
        <p:spPr>
          <a:xfrm>
            <a:off x="7114032" y="1280160"/>
            <a:ext cx="1554480" cy="384048"/>
          </a:xfrm>
          <a:prstGeom prst="rect">
            <a:avLst/>
          </a:prstGeom>
          <a:solidFill>
            <a:srgbClr val="FFFFFF"/>
          </a:solidFill>
          <a:ln w="9525">
            <a:solidFill>
              <a:srgbClr val="DCDCD6"/>
            </a:solidFill>
            <a:prstDash val="solid"/>
          </a:ln>
        </p:spPr>
      </p:sp>
      <p:sp>
        <p:nvSpPr>
          <p:cNvPr id="21" name="Shape 18"/>
          <p:cNvSpPr/>
          <p:nvPr/>
        </p:nvSpPr>
        <p:spPr>
          <a:xfrm>
            <a:off x="7114032" y="1280160"/>
            <a:ext cx="54864" cy="384048"/>
          </a:xfrm>
          <a:prstGeom prst="rect">
            <a:avLst/>
          </a:prstGeom>
          <a:solidFill>
            <a:srgbClr val="0F2A47"/>
          </a:solidFill>
          <a:ln w="12700">
            <a:solidFill>
              <a:srgbClr val="0F2A47"/>
            </a:solidFill>
            <a:prstDash val="solid"/>
          </a:ln>
        </p:spPr>
      </p:sp>
      <p:sp>
        <p:nvSpPr>
          <p:cNvPr id="22" name="Text 19"/>
          <p:cNvSpPr/>
          <p:nvPr/>
        </p:nvSpPr>
        <p:spPr>
          <a:xfrm>
            <a:off x="7223760" y="1280160"/>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FR5 GraphRAG</a:t>
            </a:r>
            <a:endParaRPr lang="en-US" sz="1050" dirty="0"/>
          </a:p>
        </p:txBody>
      </p:sp>
      <p:sp>
        <p:nvSpPr>
          <p:cNvPr id="23" name="Shape 20"/>
          <p:cNvSpPr/>
          <p:nvPr/>
        </p:nvSpPr>
        <p:spPr>
          <a:xfrm>
            <a:off x="457200" y="1755648"/>
            <a:ext cx="1554480" cy="384048"/>
          </a:xfrm>
          <a:prstGeom prst="rect">
            <a:avLst/>
          </a:prstGeom>
          <a:solidFill>
            <a:srgbClr val="FFFFFF"/>
          </a:solidFill>
          <a:ln w="9525">
            <a:solidFill>
              <a:srgbClr val="DCDCD6"/>
            </a:solidFill>
            <a:prstDash val="solid"/>
          </a:ln>
        </p:spPr>
      </p:sp>
      <p:sp>
        <p:nvSpPr>
          <p:cNvPr id="24" name="Shape 21"/>
          <p:cNvSpPr/>
          <p:nvPr/>
        </p:nvSpPr>
        <p:spPr>
          <a:xfrm>
            <a:off x="457200" y="1755648"/>
            <a:ext cx="54864" cy="384048"/>
          </a:xfrm>
          <a:prstGeom prst="rect">
            <a:avLst/>
          </a:prstGeom>
          <a:solidFill>
            <a:srgbClr val="0F2A47"/>
          </a:solidFill>
          <a:ln w="12700">
            <a:solidFill>
              <a:srgbClr val="0F2A47"/>
            </a:solidFill>
            <a:prstDash val="solid"/>
          </a:ln>
        </p:spPr>
      </p:sp>
      <p:sp>
        <p:nvSpPr>
          <p:cNvPr id="25" name="Text 22"/>
          <p:cNvSpPr/>
          <p:nvPr/>
        </p:nvSpPr>
        <p:spPr>
          <a:xfrm>
            <a:off x="566928" y="1755648"/>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FR6 hydration</a:t>
            </a:r>
            <a:endParaRPr lang="en-US" sz="1050" dirty="0"/>
          </a:p>
        </p:txBody>
      </p:sp>
      <p:sp>
        <p:nvSpPr>
          <p:cNvPr id="26" name="Shape 23"/>
          <p:cNvSpPr/>
          <p:nvPr/>
        </p:nvSpPr>
        <p:spPr>
          <a:xfrm>
            <a:off x="2121408" y="1755648"/>
            <a:ext cx="1554480" cy="384048"/>
          </a:xfrm>
          <a:prstGeom prst="rect">
            <a:avLst/>
          </a:prstGeom>
          <a:solidFill>
            <a:srgbClr val="FFFFFF"/>
          </a:solidFill>
          <a:ln w="9525">
            <a:solidFill>
              <a:srgbClr val="DCDCD6"/>
            </a:solidFill>
            <a:prstDash val="solid"/>
          </a:ln>
        </p:spPr>
      </p:sp>
      <p:sp>
        <p:nvSpPr>
          <p:cNvPr id="27" name="Shape 24"/>
          <p:cNvSpPr/>
          <p:nvPr/>
        </p:nvSpPr>
        <p:spPr>
          <a:xfrm>
            <a:off x="2121408" y="1755648"/>
            <a:ext cx="54864" cy="384048"/>
          </a:xfrm>
          <a:prstGeom prst="rect">
            <a:avLst/>
          </a:prstGeom>
          <a:solidFill>
            <a:srgbClr val="0F2A47"/>
          </a:solidFill>
          <a:ln w="12700">
            <a:solidFill>
              <a:srgbClr val="0F2A47"/>
            </a:solidFill>
            <a:prstDash val="solid"/>
          </a:ln>
        </p:spPr>
      </p:sp>
      <p:sp>
        <p:nvSpPr>
          <p:cNvPr id="28" name="Text 25"/>
          <p:cNvSpPr/>
          <p:nvPr/>
        </p:nvSpPr>
        <p:spPr>
          <a:xfrm>
            <a:off x="2231136" y="1755648"/>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FR7 evidence UI</a:t>
            </a:r>
            <a:endParaRPr lang="en-US" sz="1050" dirty="0"/>
          </a:p>
        </p:txBody>
      </p:sp>
      <p:sp>
        <p:nvSpPr>
          <p:cNvPr id="29" name="Shape 26"/>
          <p:cNvSpPr/>
          <p:nvPr/>
        </p:nvSpPr>
        <p:spPr>
          <a:xfrm>
            <a:off x="3785616" y="1755648"/>
            <a:ext cx="1554480" cy="384048"/>
          </a:xfrm>
          <a:prstGeom prst="rect">
            <a:avLst/>
          </a:prstGeom>
          <a:solidFill>
            <a:srgbClr val="FFFFFF"/>
          </a:solidFill>
          <a:ln w="9525">
            <a:solidFill>
              <a:srgbClr val="DCDCD6"/>
            </a:solidFill>
            <a:prstDash val="solid"/>
          </a:ln>
        </p:spPr>
      </p:sp>
      <p:sp>
        <p:nvSpPr>
          <p:cNvPr id="30" name="Shape 27"/>
          <p:cNvSpPr/>
          <p:nvPr/>
        </p:nvSpPr>
        <p:spPr>
          <a:xfrm>
            <a:off x="3785616" y="1755648"/>
            <a:ext cx="54864" cy="384048"/>
          </a:xfrm>
          <a:prstGeom prst="rect">
            <a:avLst/>
          </a:prstGeom>
          <a:solidFill>
            <a:srgbClr val="0F2A47"/>
          </a:solidFill>
          <a:ln w="12700">
            <a:solidFill>
              <a:srgbClr val="0F2A47"/>
            </a:solidFill>
            <a:prstDash val="solid"/>
          </a:ln>
        </p:spPr>
      </p:sp>
      <p:sp>
        <p:nvSpPr>
          <p:cNvPr id="31" name="Text 28"/>
          <p:cNvSpPr/>
          <p:nvPr/>
        </p:nvSpPr>
        <p:spPr>
          <a:xfrm>
            <a:off x="3895344" y="1755648"/>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FR8 corpus</a:t>
            </a:r>
            <a:endParaRPr lang="en-US" sz="1050" dirty="0"/>
          </a:p>
        </p:txBody>
      </p:sp>
      <p:sp>
        <p:nvSpPr>
          <p:cNvPr id="32" name="Shape 29"/>
          <p:cNvSpPr/>
          <p:nvPr/>
        </p:nvSpPr>
        <p:spPr>
          <a:xfrm>
            <a:off x="5449824" y="1755648"/>
            <a:ext cx="1554480" cy="384048"/>
          </a:xfrm>
          <a:prstGeom prst="rect">
            <a:avLst/>
          </a:prstGeom>
          <a:solidFill>
            <a:srgbClr val="FFFFFF"/>
          </a:solidFill>
          <a:ln w="9525">
            <a:solidFill>
              <a:srgbClr val="DCDCD6"/>
            </a:solidFill>
            <a:prstDash val="solid"/>
          </a:ln>
        </p:spPr>
      </p:sp>
      <p:sp>
        <p:nvSpPr>
          <p:cNvPr id="33" name="Shape 30"/>
          <p:cNvSpPr/>
          <p:nvPr/>
        </p:nvSpPr>
        <p:spPr>
          <a:xfrm>
            <a:off x="5449824" y="1755648"/>
            <a:ext cx="54864" cy="384048"/>
          </a:xfrm>
          <a:prstGeom prst="rect">
            <a:avLst/>
          </a:prstGeom>
          <a:solidFill>
            <a:srgbClr val="0F2A47"/>
          </a:solidFill>
          <a:ln w="12700">
            <a:solidFill>
              <a:srgbClr val="0F2A47"/>
            </a:solidFill>
            <a:prstDash val="solid"/>
          </a:ln>
        </p:spPr>
      </p:sp>
      <p:sp>
        <p:nvSpPr>
          <p:cNvPr id="34" name="Text 31"/>
          <p:cNvSpPr/>
          <p:nvPr/>
        </p:nvSpPr>
        <p:spPr>
          <a:xfrm>
            <a:off x="5559552" y="1755648"/>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FR9 health/SLO</a:t>
            </a:r>
            <a:endParaRPr lang="en-US" sz="1050" dirty="0"/>
          </a:p>
        </p:txBody>
      </p:sp>
      <p:sp>
        <p:nvSpPr>
          <p:cNvPr id="35" name="Shape 32"/>
          <p:cNvSpPr/>
          <p:nvPr/>
        </p:nvSpPr>
        <p:spPr>
          <a:xfrm>
            <a:off x="7114032" y="1755648"/>
            <a:ext cx="1554480" cy="384048"/>
          </a:xfrm>
          <a:prstGeom prst="rect">
            <a:avLst/>
          </a:prstGeom>
          <a:solidFill>
            <a:srgbClr val="FFFFFF"/>
          </a:solidFill>
          <a:ln w="9525">
            <a:solidFill>
              <a:srgbClr val="DCDCD6"/>
            </a:solidFill>
            <a:prstDash val="solid"/>
          </a:ln>
        </p:spPr>
      </p:sp>
      <p:sp>
        <p:nvSpPr>
          <p:cNvPr id="36" name="Shape 33"/>
          <p:cNvSpPr/>
          <p:nvPr/>
        </p:nvSpPr>
        <p:spPr>
          <a:xfrm>
            <a:off x="7114032" y="1755648"/>
            <a:ext cx="54864" cy="384048"/>
          </a:xfrm>
          <a:prstGeom prst="rect">
            <a:avLst/>
          </a:prstGeom>
          <a:solidFill>
            <a:srgbClr val="0F2A47"/>
          </a:solidFill>
          <a:ln w="12700">
            <a:solidFill>
              <a:srgbClr val="0F2A47"/>
            </a:solidFill>
            <a:prstDash val="solid"/>
          </a:ln>
        </p:spPr>
      </p:sp>
      <p:sp>
        <p:nvSpPr>
          <p:cNvPr id="37" name="Text 34"/>
          <p:cNvSpPr/>
          <p:nvPr/>
        </p:nvSpPr>
        <p:spPr>
          <a:xfrm>
            <a:off x="7223760" y="1755648"/>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FR10 replay</a:t>
            </a:r>
            <a:endParaRPr lang="en-US" sz="1050" dirty="0"/>
          </a:p>
        </p:txBody>
      </p:sp>
      <p:sp>
        <p:nvSpPr>
          <p:cNvPr id="38" name="Shape 35"/>
          <p:cNvSpPr/>
          <p:nvPr/>
        </p:nvSpPr>
        <p:spPr>
          <a:xfrm>
            <a:off x="457200" y="2231136"/>
            <a:ext cx="1554480" cy="384048"/>
          </a:xfrm>
          <a:prstGeom prst="rect">
            <a:avLst/>
          </a:prstGeom>
          <a:solidFill>
            <a:srgbClr val="FFFFFF"/>
          </a:solidFill>
          <a:ln w="9525">
            <a:solidFill>
              <a:srgbClr val="DCDCD6"/>
            </a:solidFill>
            <a:prstDash val="solid"/>
          </a:ln>
        </p:spPr>
      </p:sp>
      <p:sp>
        <p:nvSpPr>
          <p:cNvPr id="39" name="Shape 36"/>
          <p:cNvSpPr/>
          <p:nvPr/>
        </p:nvSpPr>
        <p:spPr>
          <a:xfrm>
            <a:off x="457200" y="2231136"/>
            <a:ext cx="54864" cy="384048"/>
          </a:xfrm>
          <a:prstGeom prst="rect">
            <a:avLst/>
          </a:prstGeom>
          <a:solidFill>
            <a:srgbClr val="0F2A47"/>
          </a:solidFill>
          <a:ln w="12700">
            <a:solidFill>
              <a:srgbClr val="0F2A47"/>
            </a:solidFill>
            <a:prstDash val="solid"/>
          </a:ln>
        </p:spPr>
      </p:sp>
      <p:sp>
        <p:nvSpPr>
          <p:cNvPr id="40" name="Text 37"/>
          <p:cNvSpPr/>
          <p:nvPr/>
        </p:nvSpPr>
        <p:spPr>
          <a:xfrm>
            <a:off x="566928" y="2231136"/>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FR11 TLP</a:t>
            </a:r>
            <a:endParaRPr lang="en-US" sz="1050" dirty="0"/>
          </a:p>
        </p:txBody>
      </p:sp>
      <p:sp>
        <p:nvSpPr>
          <p:cNvPr id="41" name="Shape 38"/>
          <p:cNvSpPr/>
          <p:nvPr/>
        </p:nvSpPr>
        <p:spPr>
          <a:xfrm>
            <a:off x="2121408" y="2231136"/>
            <a:ext cx="1554480" cy="384048"/>
          </a:xfrm>
          <a:prstGeom prst="rect">
            <a:avLst/>
          </a:prstGeom>
          <a:solidFill>
            <a:srgbClr val="FFFFFF"/>
          </a:solidFill>
          <a:ln w="9525">
            <a:solidFill>
              <a:srgbClr val="DCDCD6"/>
            </a:solidFill>
            <a:prstDash val="solid"/>
          </a:ln>
        </p:spPr>
      </p:sp>
      <p:sp>
        <p:nvSpPr>
          <p:cNvPr id="42" name="Shape 39"/>
          <p:cNvSpPr/>
          <p:nvPr/>
        </p:nvSpPr>
        <p:spPr>
          <a:xfrm>
            <a:off x="2121408" y="2231136"/>
            <a:ext cx="54864" cy="384048"/>
          </a:xfrm>
          <a:prstGeom prst="rect">
            <a:avLst/>
          </a:prstGeom>
          <a:solidFill>
            <a:srgbClr val="0F2A47"/>
          </a:solidFill>
          <a:ln w="12700">
            <a:solidFill>
              <a:srgbClr val="0F2A47"/>
            </a:solidFill>
            <a:prstDash val="solid"/>
          </a:ln>
        </p:spPr>
      </p:sp>
      <p:sp>
        <p:nvSpPr>
          <p:cNvPr id="43" name="Text 40"/>
          <p:cNvSpPr/>
          <p:nvPr/>
        </p:nvSpPr>
        <p:spPr>
          <a:xfrm>
            <a:off x="2231136" y="2231136"/>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FR12 publish</a:t>
            </a:r>
            <a:endParaRPr lang="en-US" sz="1050" dirty="0"/>
          </a:p>
        </p:txBody>
      </p:sp>
      <p:sp>
        <p:nvSpPr>
          <p:cNvPr id="44" name="Shape 41"/>
          <p:cNvSpPr/>
          <p:nvPr/>
        </p:nvSpPr>
        <p:spPr>
          <a:xfrm>
            <a:off x="3785616" y="2231136"/>
            <a:ext cx="1554480" cy="384048"/>
          </a:xfrm>
          <a:prstGeom prst="rect">
            <a:avLst/>
          </a:prstGeom>
          <a:solidFill>
            <a:srgbClr val="FFFFFF"/>
          </a:solidFill>
          <a:ln w="9525">
            <a:solidFill>
              <a:srgbClr val="DCDCD6"/>
            </a:solidFill>
            <a:prstDash val="solid"/>
          </a:ln>
        </p:spPr>
      </p:sp>
      <p:sp>
        <p:nvSpPr>
          <p:cNvPr id="45" name="Shape 42"/>
          <p:cNvSpPr/>
          <p:nvPr/>
        </p:nvSpPr>
        <p:spPr>
          <a:xfrm>
            <a:off x="3785616" y="2231136"/>
            <a:ext cx="54864" cy="384048"/>
          </a:xfrm>
          <a:prstGeom prst="rect">
            <a:avLst/>
          </a:prstGeom>
          <a:solidFill>
            <a:srgbClr val="1B5E40"/>
          </a:solidFill>
          <a:ln w="12700">
            <a:solidFill>
              <a:srgbClr val="1B5E40"/>
            </a:solidFill>
            <a:prstDash val="solid"/>
          </a:ln>
        </p:spPr>
      </p:sp>
      <p:sp>
        <p:nvSpPr>
          <p:cNvPr id="46" name="Text 43"/>
          <p:cNvSpPr/>
          <p:nvPr/>
        </p:nvSpPr>
        <p:spPr>
          <a:xfrm>
            <a:off x="3895344" y="2231136"/>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NFR1 local only</a:t>
            </a:r>
            <a:endParaRPr lang="en-US" sz="1050" dirty="0"/>
          </a:p>
        </p:txBody>
      </p:sp>
      <p:sp>
        <p:nvSpPr>
          <p:cNvPr id="47" name="Shape 44"/>
          <p:cNvSpPr/>
          <p:nvPr/>
        </p:nvSpPr>
        <p:spPr>
          <a:xfrm>
            <a:off x="5449824" y="2231136"/>
            <a:ext cx="1554480" cy="384048"/>
          </a:xfrm>
          <a:prstGeom prst="rect">
            <a:avLst/>
          </a:prstGeom>
          <a:solidFill>
            <a:srgbClr val="FFFFFF"/>
          </a:solidFill>
          <a:ln w="9525">
            <a:solidFill>
              <a:srgbClr val="DCDCD6"/>
            </a:solidFill>
            <a:prstDash val="solid"/>
          </a:ln>
        </p:spPr>
      </p:sp>
      <p:sp>
        <p:nvSpPr>
          <p:cNvPr id="48" name="Shape 45"/>
          <p:cNvSpPr/>
          <p:nvPr/>
        </p:nvSpPr>
        <p:spPr>
          <a:xfrm>
            <a:off x="5449824" y="2231136"/>
            <a:ext cx="54864" cy="384048"/>
          </a:xfrm>
          <a:prstGeom prst="rect">
            <a:avLst/>
          </a:prstGeom>
          <a:solidFill>
            <a:srgbClr val="1B5E40"/>
          </a:solidFill>
          <a:ln w="12700">
            <a:solidFill>
              <a:srgbClr val="1B5E40"/>
            </a:solidFill>
            <a:prstDash val="solid"/>
          </a:ln>
        </p:spPr>
      </p:sp>
      <p:sp>
        <p:nvSpPr>
          <p:cNvPr id="49" name="Text 46"/>
          <p:cNvSpPr/>
          <p:nvPr/>
        </p:nvSpPr>
        <p:spPr>
          <a:xfrm>
            <a:off x="5559552" y="2231136"/>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NFR2 latency</a:t>
            </a:r>
            <a:endParaRPr lang="en-US" sz="1050" dirty="0"/>
          </a:p>
        </p:txBody>
      </p:sp>
      <p:sp>
        <p:nvSpPr>
          <p:cNvPr id="50" name="Shape 47"/>
          <p:cNvSpPr/>
          <p:nvPr/>
        </p:nvSpPr>
        <p:spPr>
          <a:xfrm>
            <a:off x="7114032" y="2231136"/>
            <a:ext cx="1554480" cy="384048"/>
          </a:xfrm>
          <a:prstGeom prst="rect">
            <a:avLst/>
          </a:prstGeom>
          <a:solidFill>
            <a:srgbClr val="FFFFFF"/>
          </a:solidFill>
          <a:ln w="9525">
            <a:solidFill>
              <a:srgbClr val="DCDCD6"/>
            </a:solidFill>
            <a:prstDash val="solid"/>
          </a:ln>
        </p:spPr>
      </p:sp>
      <p:sp>
        <p:nvSpPr>
          <p:cNvPr id="51" name="Shape 48"/>
          <p:cNvSpPr/>
          <p:nvPr/>
        </p:nvSpPr>
        <p:spPr>
          <a:xfrm>
            <a:off x="7114032" y="2231136"/>
            <a:ext cx="54864" cy="384048"/>
          </a:xfrm>
          <a:prstGeom prst="rect">
            <a:avLst/>
          </a:prstGeom>
          <a:solidFill>
            <a:srgbClr val="1B5E40"/>
          </a:solidFill>
          <a:ln w="12700">
            <a:solidFill>
              <a:srgbClr val="1B5E40"/>
            </a:solidFill>
            <a:prstDash val="solid"/>
          </a:ln>
        </p:spPr>
      </p:sp>
      <p:sp>
        <p:nvSpPr>
          <p:cNvPr id="52" name="Text 49"/>
          <p:cNvSpPr/>
          <p:nvPr/>
        </p:nvSpPr>
        <p:spPr>
          <a:xfrm>
            <a:off x="7223760" y="2231136"/>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NFR3 isolation</a:t>
            </a:r>
            <a:endParaRPr lang="en-US" sz="1050" dirty="0"/>
          </a:p>
        </p:txBody>
      </p:sp>
      <p:sp>
        <p:nvSpPr>
          <p:cNvPr id="53" name="Shape 50"/>
          <p:cNvSpPr/>
          <p:nvPr/>
        </p:nvSpPr>
        <p:spPr>
          <a:xfrm>
            <a:off x="457200" y="2706624"/>
            <a:ext cx="1554480" cy="384048"/>
          </a:xfrm>
          <a:prstGeom prst="rect">
            <a:avLst/>
          </a:prstGeom>
          <a:solidFill>
            <a:srgbClr val="FFFFFF"/>
          </a:solidFill>
          <a:ln w="9525">
            <a:solidFill>
              <a:srgbClr val="DCDCD6"/>
            </a:solidFill>
            <a:prstDash val="solid"/>
          </a:ln>
        </p:spPr>
      </p:sp>
      <p:sp>
        <p:nvSpPr>
          <p:cNvPr id="54" name="Shape 51"/>
          <p:cNvSpPr/>
          <p:nvPr/>
        </p:nvSpPr>
        <p:spPr>
          <a:xfrm>
            <a:off x="457200" y="2706624"/>
            <a:ext cx="54864" cy="384048"/>
          </a:xfrm>
          <a:prstGeom prst="rect">
            <a:avLst/>
          </a:prstGeom>
          <a:solidFill>
            <a:srgbClr val="1B5E40"/>
          </a:solidFill>
          <a:ln w="12700">
            <a:solidFill>
              <a:srgbClr val="1B5E40"/>
            </a:solidFill>
            <a:prstDash val="solid"/>
          </a:ln>
        </p:spPr>
      </p:sp>
      <p:sp>
        <p:nvSpPr>
          <p:cNvPr id="55" name="Text 52"/>
          <p:cNvSpPr/>
          <p:nvPr/>
        </p:nvSpPr>
        <p:spPr>
          <a:xfrm>
            <a:off x="566928" y="2706624"/>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NFR4 grounded</a:t>
            </a:r>
            <a:endParaRPr lang="en-US" sz="1050" dirty="0"/>
          </a:p>
        </p:txBody>
      </p:sp>
      <p:sp>
        <p:nvSpPr>
          <p:cNvPr id="56" name="Shape 53"/>
          <p:cNvSpPr/>
          <p:nvPr/>
        </p:nvSpPr>
        <p:spPr>
          <a:xfrm>
            <a:off x="2121408" y="2706624"/>
            <a:ext cx="1554480" cy="384048"/>
          </a:xfrm>
          <a:prstGeom prst="rect">
            <a:avLst/>
          </a:prstGeom>
          <a:solidFill>
            <a:srgbClr val="FFFFFF"/>
          </a:solidFill>
          <a:ln w="9525">
            <a:solidFill>
              <a:srgbClr val="DCDCD6"/>
            </a:solidFill>
            <a:prstDash val="solid"/>
          </a:ln>
        </p:spPr>
      </p:sp>
      <p:sp>
        <p:nvSpPr>
          <p:cNvPr id="57" name="Shape 54"/>
          <p:cNvSpPr/>
          <p:nvPr/>
        </p:nvSpPr>
        <p:spPr>
          <a:xfrm>
            <a:off x="2121408" y="2706624"/>
            <a:ext cx="54864" cy="384048"/>
          </a:xfrm>
          <a:prstGeom prst="rect">
            <a:avLst/>
          </a:prstGeom>
          <a:solidFill>
            <a:srgbClr val="1B5E40"/>
          </a:solidFill>
          <a:ln w="12700">
            <a:solidFill>
              <a:srgbClr val="1B5E40"/>
            </a:solidFill>
            <a:prstDash val="solid"/>
          </a:ln>
        </p:spPr>
      </p:sp>
      <p:sp>
        <p:nvSpPr>
          <p:cNvPr id="58" name="Text 55"/>
          <p:cNvSpPr/>
          <p:nvPr/>
        </p:nvSpPr>
        <p:spPr>
          <a:xfrm>
            <a:off x="2231136" y="2706624"/>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NFR5 reproducible</a:t>
            </a:r>
            <a:endParaRPr lang="en-US" sz="1050" dirty="0"/>
          </a:p>
        </p:txBody>
      </p:sp>
      <p:sp>
        <p:nvSpPr>
          <p:cNvPr id="59" name="Shape 56"/>
          <p:cNvSpPr/>
          <p:nvPr/>
        </p:nvSpPr>
        <p:spPr>
          <a:xfrm>
            <a:off x="3785616" y="2706624"/>
            <a:ext cx="1554480" cy="384048"/>
          </a:xfrm>
          <a:prstGeom prst="rect">
            <a:avLst/>
          </a:prstGeom>
          <a:solidFill>
            <a:srgbClr val="FFFFFF"/>
          </a:solidFill>
          <a:ln w="9525">
            <a:solidFill>
              <a:srgbClr val="DCDCD6"/>
            </a:solidFill>
            <a:prstDash val="solid"/>
          </a:ln>
        </p:spPr>
      </p:sp>
      <p:sp>
        <p:nvSpPr>
          <p:cNvPr id="60" name="Shape 57"/>
          <p:cNvSpPr/>
          <p:nvPr/>
        </p:nvSpPr>
        <p:spPr>
          <a:xfrm>
            <a:off x="3785616" y="2706624"/>
            <a:ext cx="54864" cy="384048"/>
          </a:xfrm>
          <a:prstGeom prst="rect">
            <a:avLst/>
          </a:prstGeom>
          <a:solidFill>
            <a:srgbClr val="1B5E40"/>
          </a:solidFill>
          <a:ln w="12700">
            <a:solidFill>
              <a:srgbClr val="1B5E40"/>
            </a:solidFill>
            <a:prstDash val="solid"/>
          </a:ln>
        </p:spPr>
      </p:sp>
      <p:sp>
        <p:nvSpPr>
          <p:cNvPr id="61" name="Text 58"/>
          <p:cNvSpPr/>
          <p:nvPr/>
        </p:nvSpPr>
        <p:spPr>
          <a:xfrm>
            <a:off x="3895344" y="2706624"/>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NFR6 ethics</a:t>
            </a:r>
            <a:endParaRPr lang="en-US" sz="1050" dirty="0"/>
          </a:p>
        </p:txBody>
      </p:sp>
      <p:sp>
        <p:nvSpPr>
          <p:cNvPr id="62" name="Shape 59"/>
          <p:cNvSpPr/>
          <p:nvPr/>
        </p:nvSpPr>
        <p:spPr>
          <a:xfrm>
            <a:off x="5449824" y="2706624"/>
            <a:ext cx="1554480" cy="384048"/>
          </a:xfrm>
          <a:prstGeom prst="rect">
            <a:avLst/>
          </a:prstGeom>
          <a:solidFill>
            <a:srgbClr val="FFFFFF"/>
          </a:solidFill>
          <a:ln w="9525">
            <a:solidFill>
              <a:srgbClr val="DCDCD6"/>
            </a:solidFill>
            <a:prstDash val="solid"/>
          </a:ln>
        </p:spPr>
      </p:sp>
      <p:sp>
        <p:nvSpPr>
          <p:cNvPr id="63" name="Shape 60"/>
          <p:cNvSpPr/>
          <p:nvPr/>
        </p:nvSpPr>
        <p:spPr>
          <a:xfrm>
            <a:off x="5449824" y="2706624"/>
            <a:ext cx="54864" cy="384048"/>
          </a:xfrm>
          <a:prstGeom prst="rect">
            <a:avLst/>
          </a:prstGeom>
          <a:solidFill>
            <a:srgbClr val="1B5E40"/>
          </a:solidFill>
          <a:ln w="12700">
            <a:solidFill>
              <a:srgbClr val="1B5E40"/>
            </a:solidFill>
            <a:prstDash val="solid"/>
          </a:ln>
        </p:spPr>
      </p:sp>
      <p:sp>
        <p:nvSpPr>
          <p:cNvPr id="64" name="Text 61"/>
          <p:cNvSpPr/>
          <p:nvPr/>
        </p:nvSpPr>
        <p:spPr>
          <a:xfrm>
            <a:off x="5559552" y="2706624"/>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NFR7 usability</a:t>
            </a:r>
            <a:endParaRPr lang="en-US" sz="1050" dirty="0"/>
          </a:p>
        </p:txBody>
      </p:sp>
      <p:sp>
        <p:nvSpPr>
          <p:cNvPr id="65" name="Shape 62"/>
          <p:cNvSpPr/>
          <p:nvPr/>
        </p:nvSpPr>
        <p:spPr>
          <a:xfrm>
            <a:off x="7114032" y="2706624"/>
            <a:ext cx="1554480" cy="384048"/>
          </a:xfrm>
          <a:prstGeom prst="rect">
            <a:avLst/>
          </a:prstGeom>
          <a:solidFill>
            <a:srgbClr val="FFFFFF"/>
          </a:solidFill>
          <a:ln w="9525">
            <a:solidFill>
              <a:srgbClr val="DCDCD6"/>
            </a:solidFill>
            <a:prstDash val="solid"/>
          </a:ln>
        </p:spPr>
      </p:sp>
      <p:sp>
        <p:nvSpPr>
          <p:cNvPr id="66" name="Shape 63"/>
          <p:cNvSpPr/>
          <p:nvPr/>
        </p:nvSpPr>
        <p:spPr>
          <a:xfrm>
            <a:off x="7114032" y="2706624"/>
            <a:ext cx="54864" cy="384048"/>
          </a:xfrm>
          <a:prstGeom prst="rect">
            <a:avLst/>
          </a:prstGeom>
          <a:solidFill>
            <a:srgbClr val="1B5E40"/>
          </a:solidFill>
          <a:ln w="12700">
            <a:solidFill>
              <a:srgbClr val="1B5E40"/>
            </a:solidFill>
            <a:prstDash val="solid"/>
          </a:ln>
        </p:spPr>
      </p:sp>
      <p:sp>
        <p:nvSpPr>
          <p:cNvPr id="67" name="Text 64"/>
          <p:cNvSpPr/>
          <p:nvPr/>
        </p:nvSpPr>
        <p:spPr>
          <a:xfrm>
            <a:off x="7223760" y="2706624"/>
            <a:ext cx="1417320" cy="384048"/>
          </a:xfrm>
          <a:prstGeom prst="rect">
            <a:avLst/>
          </a:prstGeom>
          <a:noFill/>
          <a:ln/>
        </p:spPr>
        <p:txBody>
          <a:bodyPr wrap="square" lIns="0" tIns="0" rIns="0" bIns="0" rtlCol="0" anchor="ctr"/>
          <a:lstStyle/>
          <a:p>
            <a:pPr indent="0" marL="0">
              <a:buNone/>
            </a:pPr>
            <a:r>
              <a:rPr lang="en-US" sz="1050" dirty="0">
                <a:solidFill>
                  <a:srgbClr val="1A1F26"/>
                </a:solidFill>
                <a:latin typeface="Calibri" pitchFamily="34" charset="0"/>
                <a:ea typeface="Calibri" pitchFamily="34" charset="-122"/>
                <a:cs typeface="Calibri" pitchFamily="34" charset="-120"/>
              </a:rPr>
              <a:t>✓ NFR8 availability</a:t>
            </a:r>
            <a:endParaRPr lang="en-US" sz="1050" dirty="0"/>
          </a:p>
        </p:txBody>
      </p:sp>
      <p:sp>
        <p:nvSpPr>
          <p:cNvPr id="68" name="Text 65"/>
          <p:cNvSpPr/>
          <p:nvPr/>
        </p:nvSpPr>
        <p:spPr>
          <a:xfrm>
            <a:off x="457200" y="3291840"/>
            <a:ext cx="8229600" cy="731520"/>
          </a:xfrm>
          <a:prstGeom prst="rect">
            <a:avLst/>
          </a:prstGeom>
          <a:noFill/>
          <a:ln/>
        </p:spPr>
        <p:txBody>
          <a:bodyPr wrap="square" lIns="0" tIns="0" rIns="0" bIns="0" rtlCol="0" anchor="t"/>
          <a:lstStyle/>
          <a:p>
            <a:pPr indent="0" marL="0">
              <a:buNone/>
            </a:pPr>
            <a:r>
              <a:rPr lang="en-US" sz="1200" b="1" dirty="0">
                <a:solidFill>
                  <a:srgbClr val="0F2A47"/>
                </a:solidFill>
                <a:latin typeface="Calibri" pitchFamily="34" charset="0"/>
                <a:ea typeface="Calibri" pitchFamily="34" charset="-122"/>
                <a:cs typeface="Calibri" pitchFamily="34" charset="-120"/>
              </a:rPr>
              <a:t>Review I gaps closed: </a:t>
            </a:r>
            <a:pPr indent="0" marL="0">
              <a:buNone/>
            </a:pPr>
            <a:r>
              <a:rPr lang="en-US" sz="1200" dirty="0">
                <a:solidFill>
                  <a:srgbClr val="1A1F26"/>
                </a:solidFill>
                <a:latin typeface="Calibri" pitchFamily="34" charset="0"/>
                <a:ea typeface="Calibri" pitchFamily="34" charset="-122"/>
                <a:cs typeface="Calibri" pitchFamily="34" charset="-120"/>
              </a:rPr>
              <a:t>G1 one engine for four workloads · G2 no graph + enforcement plane · G3 no TTL cache or vectors beside the graph · G4 under-constrained RAG · G5 un-auditable answers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LIVE DEMO</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Six minutes, four use cases</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20</a:t>
            </a:r>
            <a:endParaRPr lang="en-US" sz="800" dirty="0"/>
          </a:p>
        </p:txBody>
      </p:sp>
      <p:sp>
        <p:nvSpPr>
          <p:cNvPr id="8" name="Shape 5"/>
          <p:cNvSpPr/>
          <p:nvPr/>
        </p:nvSpPr>
        <p:spPr>
          <a:xfrm>
            <a:off x="457200" y="1325880"/>
            <a:ext cx="566928" cy="566928"/>
          </a:xfrm>
          <a:prstGeom prst="ellipse">
            <a:avLst/>
          </a:prstGeom>
          <a:solidFill>
            <a:srgbClr val="0F2A47"/>
          </a:solidFill>
          <a:ln w="12700">
            <a:solidFill>
              <a:srgbClr val="0F2A47"/>
            </a:solidFill>
            <a:prstDash val="solid"/>
          </a:ln>
        </p:spPr>
      </p:sp>
      <p:sp>
        <p:nvSpPr>
          <p:cNvPr id="9" name="Text 6"/>
          <p:cNvSpPr/>
          <p:nvPr/>
        </p:nvSpPr>
        <p:spPr>
          <a:xfrm>
            <a:off x="457200" y="132588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UC1</a:t>
            </a:r>
            <a:endParaRPr lang="en-US" sz="1100" dirty="0"/>
          </a:p>
        </p:txBody>
      </p:sp>
      <p:sp>
        <p:nvSpPr>
          <p:cNvPr id="10" name="Text 7"/>
          <p:cNvSpPr/>
          <p:nvPr/>
        </p:nvSpPr>
        <p:spPr>
          <a:xfrm>
            <a:off x="1143000" y="1280160"/>
            <a:ext cx="1965960" cy="365760"/>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Shared C2 with APT28</a:t>
            </a:r>
            <a:endParaRPr lang="en-US" sz="1300" dirty="0"/>
          </a:p>
        </p:txBody>
      </p:sp>
      <p:sp>
        <p:nvSpPr>
          <p:cNvPr id="11" name="Text 8"/>
          <p:cNvSpPr/>
          <p:nvPr/>
        </p:nvSpPr>
        <p:spPr>
          <a:xfrm>
            <a:off x="1143000" y="1645920"/>
            <a:ext cx="1965960" cy="822960"/>
          </a:xfrm>
          <a:prstGeom prst="rect">
            <a:avLst/>
          </a:prstGeom>
          <a:noFill/>
          <a:ln/>
        </p:spPr>
        <p:txBody>
          <a:bodyPr wrap="square" lIns="0" tIns="0" rIns="0" bIns="0" rtlCol="0" anchor="t"/>
          <a:lstStyle/>
          <a:p>
            <a:pPr indent="0" marL="0">
              <a:buNone/>
            </a:pPr>
            <a:r>
              <a:rPr lang="en-US" sz="1100" dirty="0">
                <a:solidFill>
                  <a:srgbClr val="1A1F26"/>
                </a:solidFill>
                <a:latin typeface="Calibri" pitchFamily="34" charset="0"/>
                <a:ea typeface="Calibri" pitchFamily="34" charset="-122"/>
                <a:cs typeface="Calibri" pitchFamily="34" charset="-120"/>
              </a:rPr>
              <a:t>Sandworm via 185.86.77.12; cited rpt-001; IOC state</a:t>
            </a:r>
            <a:endParaRPr lang="en-US" sz="1100" dirty="0"/>
          </a:p>
        </p:txBody>
      </p:sp>
      <p:sp>
        <p:nvSpPr>
          <p:cNvPr id="12" name="Shape 9"/>
          <p:cNvSpPr/>
          <p:nvPr/>
        </p:nvSpPr>
        <p:spPr>
          <a:xfrm>
            <a:off x="3246120" y="1325880"/>
            <a:ext cx="566928" cy="566928"/>
          </a:xfrm>
          <a:prstGeom prst="ellipse">
            <a:avLst/>
          </a:prstGeom>
          <a:solidFill>
            <a:srgbClr val="0F2A47"/>
          </a:solidFill>
          <a:ln w="12700">
            <a:solidFill>
              <a:srgbClr val="0F2A47"/>
            </a:solidFill>
            <a:prstDash val="solid"/>
          </a:ln>
        </p:spPr>
      </p:sp>
      <p:sp>
        <p:nvSpPr>
          <p:cNvPr id="13" name="Text 10"/>
          <p:cNvSpPr/>
          <p:nvPr/>
        </p:nvSpPr>
        <p:spPr>
          <a:xfrm>
            <a:off x="3246120" y="132588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UC2</a:t>
            </a:r>
            <a:endParaRPr lang="en-US" sz="1100" dirty="0"/>
          </a:p>
        </p:txBody>
      </p:sp>
      <p:sp>
        <p:nvSpPr>
          <p:cNvPr id="14" name="Text 11"/>
          <p:cNvSpPr/>
          <p:nvPr/>
        </p:nvSpPr>
        <p:spPr>
          <a:xfrm>
            <a:off x="3931920" y="1280160"/>
            <a:ext cx="1965960" cy="365760"/>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Similar spearphishing</a:t>
            </a:r>
            <a:endParaRPr lang="en-US" sz="1300" dirty="0"/>
          </a:p>
        </p:txBody>
      </p:sp>
      <p:sp>
        <p:nvSpPr>
          <p:cNvPr id="15" name="Text 12"/>
          <p:cNvSpPr/>
          <p:nvPr/>
        </p:nvSpPr>
        <p:spPr>
          <a:xfrm>
            <a:off x="3931920" y="1645920"/>
            <a:ext cx="1965960" cy="822960"/>
          </a:xfrm>
          <a:prstGeom prst="rect">
            <a:avLst/>
          </a:prstGeom>
          <a:noFill/>
          <a:ln/>
        </p:spPr>
        <p:txBody>
          <a:bodyPr wrap="square" lIns="0" tIns="0" rIns="0" bIns="0" rtlCol="0" anchor="t"/>
          <a:lstStyle/>
          <a:p>
            <a:pPr indent="0" marL="0">
              <a:buNone/>
            </a:pPr>
            <a:r>
              <a:rPr lang="en-US" sz="1100" dirty="0">
                <a:solidFill>
                  <a:srgbClr val="1A1F26"/>
                </a:solidFill>
                <a:latin typeface="Calibri" pitchFamily="34" charset="0"/>
                <a:ea typeface="Calibri" pitchFamily="34" charset="-122"/>
                <a:cs typeface="Calibri" pitchFamily="34" charset="-120"/>
              </a:rPr>
              <a:t>Qdrant passages → APT28 / APT29 → reports</a:t>
            </a:r>
            <a:endParaRPr lang="en-US" sz="1100" dirty="0"/>
          </a:p>
        </p:txBody>
      </p:sp>
      <p:sp>
        <p:nvSpPr>
          <p:cNvPr id="16" name="Shape 13"/>
          <p:cNvSpPr/>
          <p:nvPr/>
        </p:nvSpPr>
        <p:spPr>
          <a:xfrm>
            <a:off x="6035040" y="1325880"/>
            <a:ext cx="566928" cy="566928"/>
          </a:xfrm>
          <a:prstGeom prst="ellipse">
            <a:avLst/>
          </a:prstGeom>
          <a:solidFill>
            <a:srgbClr val="0F2A47"/>
          </a:solidFill>
          <a:ln w="12700">
            <a:solidFill>
              <a:srgbClr val="0F2A47"/>
            </a:solidFill>
            <a:prstDash val="solid"/>
          </a:ln>
        </p:spPr>
      </p:sp>
      <p:sp>
        <p:nvSpPr>
          <p:cNvPr id="17" name="Text 14"/>
          <p:cNvSpPr/>
          <p:nvPr/>
        </p:nvSpPr>
        <p:spPr>
          <a:xfrm>
            <a:off x="6035040" y="132588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UC3</a:t>
            </a:r>
            <a:endParaRPr lang="en-US" sz="1100" dirty="0"/>
          </a:p>
        </p:txBody>
      </p:sp>
      <p:sp>
        <p:nvSpPr>
          <p:cNvPr id="18" name="Text 15"/>
          <p:cNvSpPr/>
          <p:nvPr/>
        </p:nvSpPr>
        <p:spPr>
          <a:xfrm>
            <a:off x="6720840" y="1280160"/>
            <a:ext cx="1965960" cy="365760"/>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Mimikatz attribution</a:t>
            </a:r>
            <a:endParaRPr lang="en-US" sz="1300" dirty="0"/>
          </a:p>
        </p:txBody>
      </p:sp>
      <p:sp>
        <p:nvSpPr>
          <p:cNvPr id="19" name="Text 16"/>
          <p:cNvSpPr/>
          <p:nvPr/>
        </p:nvSpPr>
        <p:spPr>
          <a:xfrm>
            <a:off x="6720840" y="1645920"/>
            <a:ext cx="1965960" cy="822960"/>
          </a:xfrm>
          <a:prstGeom prst="rect">
            <a:avLst/>
          </a:prstGeom>
          <a:noFill/>
          <a:ln/>
        </p:spPr>
        <p:txBody>
          <a:bodyPr wrap="square" lIns="0" tIns="0" rIns="0" bIns="0" rtlCol="0" anchor="t"/>
          <a:lstStyle/>
          <a:p>
            <a:pPr indent="0" marL="0">
              <a:buNone/>
            </a:pPr>
            <a:r>
              <a:rPr lang="en-US" sz="1100" dirty="0">
                <a:solidFill>
                  <a:srgbClr val="1A1F26"/>
                </a:solidFill>
                <a:latin typeface="Calibri" pitchFamily="34" charset="0"/>
                <a:ea typeface="Calibri" pitchFamily="34" charset="-122"/>
                <a:cs typeface="Calibri" pitchFamily="34" charset="-120"/>
              </a:rPr>
              <a:t>five users, commodity-hub caution</a:t>
            </a:r>
            <a:endParaRPr lang="en-US" sz="1100" dirty="0"/>
          </a:p>
        </p:txBody>
      </p:sp>
      <p:sp>
        <p:nvSpPr>
          <p:cNvPr id="20" name="Shape 17"/>
          <p:cNvSpPr/>
          <p:nvPr/>
        </p:nvSpPr>
        <p:spPr>
          <a:xfrm>
            <a:off x="457200" y="3017520"/>
            <a:ext cx="566928" cy="566928"/>
          </a:xfrm>
          <a:prstGeom prst="ellipse">
            <a:avLst/>
          </a:prstGeom>
          <a:solidFill>
            <a:srgbClr val="0F2A47"/>
          </a:solidFill>
          <a:ln w="12700">
            <a:solidFill>
              <a:srgbClr val="0F2A47"/>
            </a:solidFill>
            <a:prstDash val="solid"/>
          </a:ln>
        </p:spPr>
      </p:sp>
      <p:sp>
        <p:nvSpPr>
          <p:cNvPr id="21" name="Text 18"/>
          <p:cNvSpPr/>
          <p:nvPr/>
        </p:nvSpPr>
        <p:spPr>
          <a:xfrm>
            <a:off x="457200" y="301752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UC4</a:t>
            </a:r>
            <a:endParaRPr lang="en-US" sz="1100" dirty="0"/>
          </a:p>
        </p:txBody>
      </p:sp>
      <p:sp>
        <p:nvSpPr>
          <p:cNvPr id="22" name="Text 19"/>
          <p:cNvSpPr/>
          <p:nvPr/>
        </p:nvSpPr>
        <p:spPr>
          <a:xfrm>
            <a:off x="1143000" y="2971800"/>
            <a:ext cx="1965960" cy="365760"/>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Indicator expiry</a:t>
            </a:r>
            <a:endParaRPr lang="en-US" sz="1300" dirty="0"/>
          </a:p>
        </p:txBody>
      </p:sp>
      <p:sp>
        <p:nvSpPr>
          <p:cNvPr id="23" name="Text 20"/>
          <p:cNvSpPr/>
          <p:nvPr/>
        </p:nvSpPr>
        <p:spPr>
          <a:xfrm>
            <a:off x="1143000" y="3337560"/>
            <a:ext cx="1965960" cy="822960"/>
          </a:xfrm>
          <a:prstGeom prst="rect">
            <a:avLst/>
          </a:prstGeom>
          <a:noFill/>
          <a:ln/>
        </p:spPr>
        <p:txBody>
          <a:bodyPr wrap="square" lIns="0" tIns="0" rIns="0" bIns="0" rtlCol="0" anchor="t"/>
          <a:lstStyle/>
          <a:p>
            <a:pPr indent="0" marL="0">
              <a:buNone/>
            </a:pPr>
            <a:r>
              <a:rPr lang="en-US" sz="1100" dirty="0">
                <a:solidFill>
                  <a:srgbClr val="1A1F26"/>
                </a:solidFill>
                <a:latin typeface="Calibri" pitchFamily="34" charset="0"/>
                <a:ea typeface="Calibri" pitchFamily="34" charset="-122"/>
                <a:cs typeface="Calibri" pitchFamily="34" charset="-120"/>
              </a:rPr>
              <a:t>TTL hits zero; graph still remembers</a:t>
            </a:r>
            <a:endParaRPr lang="en-US" sz="1100" dirty="0"/>
          </a:p>
        </p:txBody>
      </p:sp>
      <p:sp>
        <p:nvSpPr>
          <p:cNvPr id="24" name="Shape 21"/>
          <p:cNvSpPr/>
          <p:nvPr/>
        </p:nvSpPr>
        <p:spPr>
          <a:xfrm>
            <a:off x="3246120" y="3017520"/>
            <a:ext cx="566928" cy="566928"/>
          </a:xfrm>
          <a:prstGeom prst="ellipse">
            <a:avLst/>
          </a:prstGeom>
          <a:solidFill>
            <a:srgbClr val="C98500"/>
          </a:solidFill>
          <a:ln w="12700">
            <a:solidFill>
              <a:srgbClr val="C98500"/>
            </a:solidFill>
            <a:prstDash val="solid"/>
          </a:ln>
        </p:spPr>
      </p:sp>
      <p:sp>
        <p:nvSpPr>
          <p:cNvPr id="25" name="Text 22"/>
          <p:cNvSpPr/>
          <p:nvPr/>
        </p:nvSpPr>
        <p:spPr>
          <a:xfrm>
            <a:off x="3246120" y="301752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TLP</a:t>
            </a:r>
            <a:endParaRPr lang="en-US" sz="1100" dirty="0"/>
          </a:p>
        </p:txBody>
      </p:sp>
      <p:sp>
        <p:nvSpPr>
          <p:cNvPr id="26" name="Text 23"/>
          <p:cNvSpPr/>
          <p:nvPr/>
        </p:nvSpPr>
        <p:spPr>
          <a:xfrm>
            <a:off x="3931920" y="2971800"/>
            <a:ext cx="1965960" cy="365760"/>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Sign in as junior</a:t>
            </a:r>
            <a:endParaRPr lang="en-US" sz="1300" dirty="0"/>
          </a:p>
        </p:txBody>
      </p:sp>
      <p:sp>
        <p:nvSpPr>
          <p:cNvPr id="27" name="Text 24"/>
          <p:cNvSpPr/>
          <p:nvPr/>
        </p:nvSpPr>
        <p:spPr>
          <a:xfrm>
            <a:off x="3931920" y="3337560"/>
            <a:ext cx="1965960" cy="822960"/>
          </a:xfrm>
          <a:prstGeom prst="rect">
            <a:avLst/>
          </a:prstGeom>
          <a:noFill/>
          <a:ln/>
        </p:spPr>
        <p:txBody>
          <a:bodyPr wrap="square" lIns="0" tIns="0" rIns="0" bIns="0" rtlCol="0" anchor="t"/>
          <a:lstStyle/>
          <a:p>
            <a:pPr indent="0" marL="0">
              <a:buNone/>
            </a:pPr>
            <a:r>
              <a:rPr lang="en-US" sz="1100" dirty="0">
                <a:solidFill>
                  <a:srgbClr val="1A1F26"/>
                </a:solidFill>
                <a:latin typeface="Calibri" pitchFamily="34" charset="0"/>
                <a:ea typeface="Calibri" pitchFamily="34" charset="-122"/>
                <a:cs typeface="Calibri" pitchFamily="34" charset="-120"/>
              </a:rPr>
              <a:t>AMBER reports vanish; 403 on rpt-001</a:t>
            </a:r>
            <a:endParaRPr lang="en-US" sz="1100" dirty="0"/>
          </a:p>
        </p:txBody>
      </p:sp>
      <p:sp>
        <p:nvSpPr>
          <p:cNvPr id="28" name="Shape 25"/>
          <p:cNvSpPr/>
          <p:nvPr/>
        </p:nvSpPr>
        <p:spPr>
          <a:xfrm>
            <a:off x="6035040" y="3017520"/>
            <a:ext cx="566928" cy="566928"/>
          </a:xfrm>
          <a:prstGeom prst="ellipse">
            <a:avLst/>
          </a:prstGeom>
          <a:solidFill>
            <a:srgbClr val="C98500"/>
          </a:solidFill>
          <a:ln w="12700">
            <a:solidFill>
              <a:srgbClr val="C98500"/>
            </a:solidFill>
            <a:prstDash val="solid"/>
          </a:ln>
        </p:spPr>
      </p:sp>
      <p:sp>
        <p:nvSpPr>
          <p:cNvPr id="29" name="Text 26"/>
          <p:cNvSpPr/>
          <p:nvPr/>
        </p:nvSpPr>
        <p:spPr>
          <a:xfrm>
            <a:off x="6035040" y="301752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Ops</a:t>
            </a:r>
            <a:endParaRPr lang="en-US" sz="1100" dirty="0"/>
          </a:p>
        </p:txBody>
      </p:sp>
      <p:sp>
        <p:nvSpPr>
          <p:cNvPr id="30" name="Text 27"/>
          <p:cNvSpPr/>
          <p:nvPr/>
        </p:nvSpPr>
        <p:spPr>
          <a:xfrm>
            <a:off x="6720840" y="2971800"/>
            <a:ext cx="1965960" cy="365760"/>
          </a:xfrm>
          <a:prstGeom prst="rect">
            <a:avLst/>
          </a:prstGeom>
          <a:noFill/>
          <a:ln/>
        </p:spPr>
        <p:txBody>
          <a:bodyPr wrap="square" lIns="0" tIns="0" rIns="0" bIns="0" rtlCol="0" anchor="ctr"/>
          <a:lstStyle/>
          <a:p>
            <a:pPr indent="0" marL="0">
              <a:buNone/>
            </a:pPr>
            <a:r>
              <a:rPr lang="en-US" sz="1300" b="1" dirty="0">
                <a:solidFill>
                  <a:srgbClr val="0F2A47"/>
                </a:solidFill>
                <a:latin typeface="Calibri" pitchFamily="34" charset="0"/>
                <a:ea typeface="Calibri" pitchFamily="34" charset="-122"/>
                <a:cs typeface="Calibri" pitchFamily="34" charset="-120"/>
              </a:rPr>
              <a:t>Ingest, replay, health</a:t>
            </a:r>
            <a:endParaRPr lang="en-US" sz="1300" dirty="0"/>
          </a:p>
        </p:txBody>
      </p:sp>
      <p:sp>
        <p:nvSpPr>
          <p:cNvPr id="31" name="Text 28"/>
          <p:cNvSpPr/>
          <p:nvPr/>
        </p:nvSpPr>
        <p:spPr>
          <a:xfrm>
            <a:off x="6720840" y="3337560"/>
            <a:ext cx="1965960" cy="822960"/>
          </a:xfrm>
          <a:prstGeom prst="rect">
            <a:avLst/>
          </a:prstGeom>
          <a:noFill/>
          <a:ln/>
        </p:spPr>
        <p:txBody>
          <a:bodyPr wrap="square" lIns="0" tIns="0" rIns="0" bIns="0" rtlCol="0" anchor="t"/>
          <a:lstStyle/>
          <a:p>
            <a:pPr indent="0" marL="0">
              <a:buNone/>
            </a:pPr>
            <a:r>
              <a:rPr lang="en-US" sz="1100" dirty="0">
                <a:solidFill>
                  <a:srgbClr val="1A1F26"/>
                </a:solidFill>
                <a:latin typeface="Calibri" pitchFamily="34" charset="0"/>
                <a:ea typeface="Calibri" pitchFamily="34" charset="-122"/>
                <a:cs typeface="Calibri" pitchFamily="34" charset="-120"/>
              </a:rPr>
              <a:t>STIX fan-out; replay re-verifies; SLO view</a:t>
            </a:r>
            <a:endParaRPr lang="en-US" sz="1100" dirty="0"/>
          </a:p>
        </p:txBody>
      </p:sp>
      <p:sp>
        <p:nvSpPr>
          <p:cNvPr id="32" name="Shape 29"/>
          <p:cNvSpPr/>
          <p:nvPr/>
        </p:nvSpPr>
        <p:spPr>
          <a:xfrm>
            <a:off x="457200" y="4069080"/>
            <a:ext cx="8229600" cy="548640"/>
          </a:xfrm>
          <a:prstGeom prst="rect">
            <a:avLst/>
          </a:prstGeom>
          <a:solidFill>
            <a:srgbClr val="FFFFFF"/>
          </a:solidFill>
          <a:ln w="9525">
            <a:solidFill>
              <a:srgbClr val="DCDCD6"/>
            </a:solidFill>
            <a:prstDash val="solid"/>
          </a:ln>
        </p:spPr>
      </p:sp>
      <p:sp>
        <p:nvSpPr>
          <p:cNvPr id="33" name="Shape 30"/>
          <p:cNvSpPr/>
          <p:nvPr/>
        </p:nvSpPr>
        <p:spPr>
          <a:xfrm>
            <a:off x="457200" y="4069080"/>
            <a:ext cx="64008" cy="548640"/>
          </a:xfrm>
          <a:prstGeom prst="rect">
            <a:avLst/>
          </a:prstGeom>
          <a:solidFill>
            <a:srgbClr val="C98500"/>
          </a:solidFill>
          <a:ln w="12700">
            <a:solidFill>
              <a:srgbClr val="C98500"/>
            </a:solidFill>
            <a:prstDash val="solid"/>
          </a:ln>
        </p:spPr>
      </p:sp>
      <p:sp>
        <p:nvSpPr>
          <p:cNvPr id="34" name="Text 31"/>
          <p:cNvSpPr/>
          <p:nvPr/>
        </p:nvSpPr>
        <p:spPr>
          <a:xfrm>
            <a:off x="658368" y="4069080"/>
            <a:ext cx="7955280" cy="548640"/>
          </a:xfrm>
          <a:prstGeom prst="rect">
            <a:avLst/>
          </a:prstGeom>
          <a:noFill/>
          <a:ln/>
        </p:spPr>
        <p:txBody>
          <a:bodyPr wrap="square" lIns="0" tIns="0" rIns="0" bIns="0" rtlCol="0" anchor="ctr"/>
          <a:lstStyle/>
          <a:p>
            <a:pPr indent="0" marL="0">
              <a:buNone/>
            </a:pPr>
            <a:r>
              <a:rPr lang="en-US" sz="1150" b="1" dirty="0">
                <a:solidFill>
                  <a:srgbClr val="0F2A47"/>
                </a:solidFill>
                <a:latin typeface="Calibri" pitchFamily="34" charset="0"/>
                <a:ea typeface="Calibri" pitchFamily="34" charset="-122"/>
                <a:cs typeface="Calibri" pitchFamily="34" charset="-120"/>
              </a:rPr>
              <a:t>Before the demo: </a:t>
            </a:r>
            <a:pPr indent="0" marL="0">
              <a:buNone/>
            </a:pPr>
            <a:r>
              <a:rPr lang="en-US" sz="1150" dirty="0">
                <a:solidFill>
                  <a:srgbClr val="1A1F26"/>
                </a:solidFill>
                <a:latin typeface="Calibri" pitchFamily="34" charset="0"/>
                <a:ea typeface="Calibri" pitchFamily="34" charset="-122"/>
                <a:cs typeface="Calibri" pitchFamily="34" charset="-120"/>
              </a:rPr>
              <a:t>make seed 5 minutes ahead (fresh TTLs) · warm the model with one question · if the LLM stalls, untick “use local LLM” — answers stay cited</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457200" y="329184"/>
            <a:ext cx="109728" cy="109728"/>
          </a:xfrm>
          <a:prstGeom prst="rect">
            <a:avLst/>
          </a:prstGeom>
          <a:solidFill>
            <a:srgbClr val="C98500"/>
          </a:solidFill>
          <a:ln w="12700">
            <a:solidFill>
              <a:srgbClr val="C98500"/>
            </a:solidFill>
            <a:prstDash val="solid"/>
          </a:ln>
        </p:spPr>
      </p:sp>
      <p:sp>
        <p:nvSpPr>
          <p:cNvPr id="3" name="Text 1"/>
          <p:cNvSpPr/>
          <p:nvPr/>
        </p:nvSpPr>
        <p:spPr>
          <a:xfrm>
            <a:off x="640080" y="246888"/>
            <a:ext cx="7315200" cy="274320"/>
          </a:xfrm>
          <a:prstGeom prst="rect">
            <a:avLst/>
          </a:prstGeom>
          <a:noFill/>
          <a:ln/>
        </p:spPr>
        <p:txBody>
          <a:bodyPr wrap="square" lIns="0" tIns="0" rIns="0" bIns="0" rtlCol="0" anchor="ctr"/>
          <a:lstStyle/>
          <a:p>
            <a:pPr indent="0" marL="0">
              <a:buNone/>
            </a:pPr>
            <a:r>
              <a:rPr lang="en-US" sz="1000" b="1" spc="200" kern="0" dirty="0">
                <a:solidFill>
                  <a:srgbClr val="9A6700"/>
                </a:solidFill>
                <a:latin typeface="Calibri" pitchFamily="34" charset="0"/>
                <a:ea typeface="Calibri" pitchFamily="34" charset="-122"/>
                <a:cs typeface="Calibri" pitchFamily="34" charset="-120"/>
              </a:rPr>
              <a:t>LIMITATIONS AND NEXT STEPS</a:t>
            </a:r>
            <a:endParaRPr lang="en-US" sz="10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F2A47"/>
                </a:solidFill>
                <a:latin typeface="Georgia" pitchFamily="34" charset="0"/>
                <a:ea typeface="Georgia" pitchFamily="34" charset="-122"/>
                <a:cs typeface="Georgia" pitchFamily="34" charset="-120"/>
              </a:rPr>
              <a:t>What we would do next</a:t>
            </a:r>
            <a:endParaRPr lang="en-US" sz="2400" dirty="0"/>
          </a:p>
        </p:txBody>
      </p:sp>
      <p:sp>
        <p:nvSpPr>
          <p:cNvPr id="5" name="Text 3"/>
          <p:cNvSpPr/>
          <p:nvPr/>
        </p:nvSpPr>
        <p:spPr>
          <a:xfrm>
            <a:off x="457200" y="4828032"/>
            <a:ext cx="4572000" cy="201168"/>
          </a:xfrm>
          <a:prstGeom prst="rect">
            <a:avLst/>
          </a:prstGeom>
          <a:noFill/>
          <a:ln/>
        </p:spPr>
        <p:txBody>
          <a:bodyPr wrap="square" lIns="0" tIns="0" rIns="0" bIns="0" rtlCol="0" anchor="ctr"/>
          <a:lstStyle/>
          <a:p>
            <a:pPr indent="0" marL="0">
              <a:buNone/>
            </a:pPr>
            <a:r>
              <a:rPr lang="en-US" sz="800" dirty="0">
                <a:solidFill>
                  <a:srgbClr val="5A6470"/>
                </a:solidFill>
                <a:latin typeface="Calibri" pitchFamily="34" charset="0"/>
                <a:ea typeface="Calibri" pitchFamily="34" charset="-122"/>
                <a:cs typeface="Calibri" pitchFamily="34" charset="-120"/>
              </a:rPr>
              <a:t>GraphRAG CTI Platform  ·  Review III</a:t>
            </a:r>
            <a:endParaRPr lang="en-US" sz="800" dirty="0"/>
          </a:p>
        </p:txBody>
      </p:sp>
      <p:sp>
        <p:nvSpPr>
          <p:cNvPr id="6" name="Text 4"/>
          <p:cNvSpPr/>
          <p:nvPr/>
        </p:nvSpPr>
        <p:spPr>
          <a:xfrm>
            <a:off x="8138160" y="4828032"/>
            <a:ext cx="548640" cy="201168"/>
          </a:xfrm>
          <a:prstGeom prst="rect">
            <a:avLst/>
          </a:prstGeom>
          <a:noFill/>
          <a:ln/>
        </p:spPr>
        <p:txBody>
          <a:bodyPr wrap="square" lIns="0" tIns="0" rIns="0" bIns="0" rtlCol="0" anchor="ctr"/>
          <a:lstStyle/>
          <a:p>
            <a:pPr algn="r" indent="0" marL="0">
              <a:buNone/>
            </a:pPr>
            <a:r>
              <a:rPr lang="en-US" sz="800" dirty="0">
                <a:solidFill>
                  <a:srgbClr val="5A6470"/>
                </a:solidFill>
                <a:latin typeface="Calibri" pitchFamily="34" charset="0"/>
                <a:ea typeface="Calibri" pitchFamily="34" charset="-122"/>
                <a:cs typeface="Calibri" pitchFamily="34" charset="-120"/>
              </a:rPr>
              <a:t>21</a:t>
            </a:r>
            <a:endParaRPr lang="en-US" sz="800" dirty="0"/>
          </a:p>
        </p:txBody>
      </p:sp>
      <p:sp>
        <p:nvSpPr>
          <p:cNvPr id="8" name="Shape 5"/>
          <p:cNvSpPr/>
          <p:nvPr/>
        </p:nvSpPr>
        <p:spPr>
          <a:xfrm>
            <a:off x="457200" y="1280160"/>
            <a:ext cx="4023360" cy="2834640"/>
          </a:xfrm>
          <a:prstGeom prst="rect">
            <a:avLst/>
          </a:prstGeom>
          <a:solidFill>
            <a:srgbClr val="FFFFFF"/>
          </a:solidFill>
          <a:ln w="9525">
            <a:solidFill>
              <a:srgbClr val="DCDCD6"/>
            </a:solidFill>
            <a:prstDash val="solid"/>
          </a:ln>
        </p:spPr>
      </p:sp>
      <p:sp>
        <p:nvSpPr>
          <p:cNvPr id="9" name="Shape 6"/>
          <p:cNvSpPr/>
          <p:nvPr/>
        </p:nvSpPr>
        <p:spPr>
          <a:xfrm>
            <a:off x="457200" y="1280160"/>
            <a:ext cx="64008" cy="2834640"/>
          </a:xfrm>
          <a:prstGeom prst="rect">
            <a:avLst/>
          </a:prstGeom>
          <a:solidFill>
            <a:srgbClr val="5A6470"/>
          </a:solidFill>
          <a:ln w="12700">
            <a:solidFill>
              <a:srgbClr val="5A6470"/>
            </a:solidFill>
            <a:prstDash val="solid"/>
          </a:ln>
        </p:spPr>
      </p:sp>
      <p:sp>
        <p:nvSpPr>
          <p:cNvPr id="10" name="Text 7"/>
          <p:cNvSpPr/>
          <p:nvPr/>
        </p:nvSpPr>
        <p:spPr>
          <a:xfrm>
            <a:off x="640080" y="1371600"/>
            <a:ext cx="3749040" cy="292608"/>
          </a:xfrm>
          <a:prstGeom prst="rect">
            <a:avLst/>
          </a:prstGeom>
          <a:noFill/>
          <a:ln/>
        </p:spPr>
        <p:txBody>
          <a:bodyPr wrap="square" lIns="0" tIns="0" rIns="0" bIns="0" rtlCol="0" anchor="ctr"/>
          <a:lstStyle/>
          <a:p>
            <a:pPr indent="0" marL="0">
              <a:buNone/>
            </a:pPr>
            <a:r>
              <a:rPr lang="en-US" sz="1300" b="1" dirty="0">
                <a:solidFill>
                  <a:srgbClr val="5A6470"/>
                </a:solidFill>
                <a:latin typeface="Calibri" pitchFamily="34" charset="0"/>
                <a:ea typeface="Calibri" pitchFamily="34" charset="-122"/>
                <a:cs typeface="Calibri" pitchFamily="34" charset="-120"/>
              </a:rPr>
              <a:t>Limitations</a:t>
            </a:r>
            <a:endParaRPr lang="en-US" sz="1300" dirty="0"/>
          </a:p>
        </p:txBody>
      </p:sp>
      <p:sp>
        <p:nvSpPr>
          <p:cNvPr id="11" name="Text 8"/>
          <p:cNvSpPr/>
          <p:nvPr/>
        </p:nvSpPr>
        <p:spPr>
          <a:xfrm>
            <a:off x="640080" y="1682496"/>
            <a:ext cx="3749040" cy="2359152"/>
          </a:xfrm>
          <a:prstGeom prst="rect">
            <a:avLst/>
          </a:prstGeom>
          <a:noFill/>
          <a:ln/>
        </p:spPr>
        <p:txBody>
          <a:bodyPr wrap="square" lIns="0" tIns="0" rIns="0" bIns="0" rtlCol="0" anchor="t"/>
          <a:lstStyle/>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single-node stores; one API worker</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12-report curated corpus; 200× scaling is synthetic</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3B model is terser than 8B</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TF-IDF embeddings by default</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lab secrets in .env.example</a:t>
            </a:r>
            <a:endParaRPr lang="en-US" sz="1400" dirty="0"/>
          </a:p>
        </p:txBody>
      </p:sp>
      <p:sp>
        <p:nvSpPr>
          <p:cNvPr id="12" name="Shape 9"/>
          <p:cNvSpPr/>
          <p:nvPr/>
        </p:nvSpPr>
        <p:spPr>
          <a:xfrm>
            <a:off x="4663440" y="1280160"/>
            <a:ext cx="4023360" cy="2834640"/>
          </a:xfrm>
          <a:prstGeom prst="rect">
            <a:avLst/>
          </a:prstGeom>
          <a:solidFill>
            <a:srgbClr val="FFFFFF"/>
          </a:solidFill>
          <a:ln w="9525">
            <a:solidFill>
              <a:srgbClr val="DCDCD6"/>
            </a:solidFill>
            <a:prstDash val="solid"/>
          </a:ln>
        </p:spPr>
      </p:sp>
      <p:sp>
        <p:nvSpPr>
          <p:cNvPr id="13" name="Shape 10"/>
          <p:cNvSpPr/>
          <p:nvPr/>
        </p:nvSpPr>
        <p:spPr>
          <a:xfrm>
            <a:off x="4663440" y="1280160"/>
            <a:ext cx="64008" cy="2834640"/>
          </a:xfrm>
          <a:prstGeom prst="rect">
            <a:avLst/>
          </a:prstGeom>
          <a:solidFill>
            <a:srgbClr val="1B5E40"/>
          </a:solidFill>
          <a:ln w="12700">
            <a:solidFill>
              <a:srgbClr val="1B5E40"/>
            </a:solidFill>
            <a:prstDash val="solid"/>
          </a:ln>
        </p:spPr>
      </p:sp>
      <p:sp>
        <p:nvSpPr>
          <p:cNvPr id="14" name="Text 11"/>
          <p:cNvSpPr/>
          <p:nvPr/>
        </p:nvSpPr>
        <p:spPr>
          <a:xfrm>
            <a:off x="4846320" y="1371600"/>
            <a:ext cx="3749040" cy="292608"/>
          </a:xfrm>
          <a:prstGeom prst="rect">
            <a:avLst/>
          </a:prstGeom>
          <a:noFill/>
          <a:ln/>
        </p:spPr>
        <p:txBody>
          <a:bodyPr wrap="square" lIns="0" tIns="0" rIns="0" bIns="0" rtlCol="0" anchor="ctr"/>
          <a:lstStyle/>
          <a:p>
            <a:pPr indent="0" marL="0">
              <a:buNone/>
            </a:pPr>
            <a:r>
              <a:rPr lang="en-US" sz="1300" b="1" dirty="0">
                <a:solidFill>
                  <a:srgbClr val="1B5E40"/>
                </a:solidFill>
                <a:latin typeface="Calibri" pitchFamily="34" charset="0"/>
                <a:ea typeface="Calibri" pitchFamily="34" charset="-122"/>
                <a:cs typeface="Calibri" pitchFamily="34" charset="-120"/>
              </a:rPr>
              <a:t>Next steps</a:t>
            </a:r>
            <a:endParaRPr lang="en-US" sz="1300" dirty="0"/>
          </a:p>
        </p:txBody>
      </p:sp>
      <p:sp>
        <p:nvSpPr>
          <p:cNvPr id="15" name="Text 12"/>
          <p:cNvSpPr/>
          <p:nvPr/>
        </p:nvSpPr>
        <p:spPr>
          <a:xfrm>
            <a:off x="4846320" y="1682496"/>
            <a:ext cx="3749040" cy="2359152"/>
          </a:xfrm>
          <a:prstGeom prst="rect">
            <a:avLst/>
          </a:prstGeom>
          <a:noFill/>
          <a:ln/>
        </p:spPr>
        <p:txBody>
          <a:bodyPr wrap="square" lIns="0" tIns="0" rIns="0" bIns="0" rtlCol="0" anchor="t"/>
          <a:lstStyle/>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Uvicorn workers / replicas; Neo4j and Mongo clustering</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TAXII feed connector for real volume</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stream answers, gate on completion → 8B feels interactive</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nomic-embed-text as default embedder</a:t>
            </a:r>
            <a:endParaRPr lang="en-US" sz="1400" dirty="0"/>
          </a:p>
          <a:p>
            <a:pPr indent="0" marL="0">
              <a:spcAft>
                <a:spcPts val="300"/>
              </a:spcAft>
              <a:buNone/>
            </a:pPr>
            <a:r>
              <a:rPr lang="en-US" sz="1400" dirty="0">
                <a:solidFill>
                  <a:srgbClr val="1A1F26"/>
                </a:solidFill>
                <a:latin typeface="Calibri" pitchFamily="34" charset="0"/>
                <a:ea typeface="Calibri" pitchFamily="34" charset="-122"/>
                <a:cs typeface="Calibri" pitchFamily="34" charset="-120"/>
              </a:rPr>
              <a:t>secrets from a vault; SSO for analysts</a:t>
            </a:r>
            <a:endParaRPr lang="en-US" sz="1400" dirty="0"/>
          </a:p>
        </p:txBody>
      </p:sp>
      <p:sp>
        <p:nvSpPr>
          <p:cNvPr id="16" name="Text 13"/>
          <p:cNvSpPr/>
          <p:nvPr/>
        </p:nvSpPr>
        <p:spPr>
          <a:xfrm>
            <a:off x="457200" y="4251960"/>
            <a:ext cx="8229600" cy="365760"/>
          </a:xfrm>
          <a:prstGeom prst="rect">
            <a:avLst/>
          </a:prstGeom>
          <a:noFill/>
          <a:ln/>
        </p:spPr>
        <p:txBody>
          <a:bodyPr wrap="square" lIns="0" tIns="0" rIns="0" bIns="0" rtlCol="0" anchor="ctr"/>
          <a:lstStyle/>
          <a:p>
            <a:pPr indent="0" marL="0">
              <a:buNone/>
            </a:pPr>
            <a:r>
              <a:rPr lang="en-US" sz="1200" i="1" dirty="0">
                <a:solidFill>
                  <a:srgbClr val="5A6470"/>
                </a:solidFill>
                <a:latin typeface="Calibri" pitchFamily="34" charset="0"/>
                <a:ea typeface="Calibri" pitchFamily="34" charset="-122"/>
                <a:cs typeface="Calibri" pitchFamily="34" charset="-120"/>
              </a:rPr>
              <a:t>None of these needs a design change: each is configuration, scale-out or a new connector.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A47"/>
        </a:solidFill>
      </p:bgPr>
    </p:bg>
    <p:spTree>
      <p:nvGrpSpPr>
        <p:cNvPr id="1" name=""/>
        <p:cNvGrpSpPr/>
        <p:nvPr/>
      </p:nvGrpSpPr>
      <p:grpSpPr>
        <a:xfrm>
          <a:off x="0" y="0"/>
          <a:ext cx="0" cy="0"/>
          <a:chOff x="0" y="0"/>
          <a:chExt cx="0" cy="0"/>
        </a:xfrm>
      </p:grpSpPr>
      <p:sp>
        <p:nvSpPr>
          <p:cNvPr id="2" name="Text 0"/>
          <p:cNvSpPr/>
          <p:nvPr/>
        </p:nvSpPr>
        <p:spPr>
          <a:xfrm>
            <a:off x="548640" y="1097280"/>
            <a:ext cx="8046720" cy="1188720"/>
          </a:xfrm>
          <a:prstGeom prst="rect">
            <a:avLst/>
          </a:prstGeom>
          <a:noFill/>
          <a:ln/>
        </p:spPr>
        <p:txBody>
          <a:bodyPr wrap="square" lIns="0" tIns="0" rIns="0" bIns="0"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Each store does what it is best at — and every answer can be traced.</a:t>
            </a:r>
            <a:endParaRPr lang="en-US" sz="2800" dirty="0"/>
          </a:p>
        </p:txBody>
      </p:sp>
      <p:sp>
        <p:nvSpPr>
          <p:cNvPr id="3" name="Text 1"/>
          <p:cNvSpPr/>
          <p:nvPr/>
        </p:nvSpPr>
        <p:spPr>
          <a:xfrm>
            <a:off x="548640" y="2606040"/>
            <a:ext cx="1920240" cy="548640"/>
          </a:xfrm>
          <a:prstGeom prst="rect">
            <a:avLst/>
          </a:prstGeom>
          <a:noFill/>
          <a:ln/>
        </p:spPr>
        <p:txBody>
          <a:bodyPr wrap="square" lIns="0" tIns="0" rIns="0" bIns="0" rtlCol="0" anchor="ctr"/>
          <a:lstStyle/>
          <a:p>
            <a:pPr indent="0" marL="0">
              <a:buNone/>
            </a:pPr>
            <a:r>
              <a:rPr lang="en-US" sz="2600" b="1" dirty="0">
                <a:solidFill>
                  <a:srgbClr val="E3B341"/>
                </a:solidFill>
                <a:latin typeface="Georgia" pitchFamily="34" charset="0"/>
                <a:ea typeface="Georgia" pitchFamily="34" charset="-122"/>
                <a:cs typeface="Georgia" pitchFamily="34" charset="-120"/>
              </a:rPr>
              <a:t>9.5 s</a:t>
            </a:r>
            <a:endParaRPr lang="en-US" sz="2600" dirty="0"/>
          </a:p>
        </p:txBody>
      </p:sp>
      <p:sp>
        <p:nvSpPr>
          <p:cNvPr id="4" name="Text 2"/>
          <p:cNvSpPr/>
          <p:nvPr/>
        </p:nvSpPr>
        <p:spPr>
          <a:xfrm>
            <a:off x="548640" y="3154680"/>
            <a:ext cx="19202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GraphRAG p95 (&lt; 15 s)</a:t>
            </a:r>
            <a:endParaRPr lang="en-US" sz="1200" dirty="0"/>
          </a:p>
        </p:txBody>
      </p:sp>
      <p:sp>
        <p:nvSpPr>
          <p:cNvPr id="5" name="Text 3"/>
          <p:cNvSpPr/>
          <p:nvPr/>
        </p:nvSpPr>
        <p:spPr>
          <a:xfrm>
            <a:off x="2606040" y="2606040"/>
            <a:ext cx="1920240" cy="548640"/>
          </a:xfrm>
          <a:prstGeom prst="rect">
            <a:avLst/>
          </a:prstGeom>
          <a:noFill/>
          <a:ln/>
        </p:spPr>
        <p:txBody>
          <a:bodyPr wrap="square" lIns="0" tIns="0" rIns="0" bIns="0" rtlCol="0" anchor="ctr"/>
          <a:lstStyle/>
          <a:p>
            <a:pPr indent="0" marL="0">
              <a:buNone/>
            </a:pPr>
            <a:r>
              <a:rPr lang="en-US" sz="2600" b="1" dirty="0">
                <a:solidFill>
                  <a:srgbClr val="E3B341"/>
                </a:solidFill>
                <a:latin typeface="Georgia" pitchFamily="34" charset="0"/>
                <a:ea typeface="Georgia" pitchFamily="34" charset="-122"/>
                <a:cs typeface="Georgia" pitchFamily="34" charset="-120"/>
              </a:rPr>
              <a:t>100%</a:t>
            </a:r>
            <a:endParaRPr lang="en-US" sz="2600" dirty="0"/>
          </a:p>
        </p:txBody>
      </p:sp>
      <p:sp>
        <p:nvSpPr>
          <p:cNvPr id="6" name="Text 4"/>
          <p:cNvSpPr/>
          <p:nvPr/>
        </p:nvSpPr>
        <p:spPr>
          <a:xfrm>
            <a:off x="2606040" y="3154680"/>
            <a:ext cx="19202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gold evidence recalled</a:t>
            </a:r>
            <a:endParaRPr lang="en-US" sz="1200" dirty="0"/>
          </a:p>
        </p:txBody>
      </p:sp>
      <p:sp>
        <p:nvSpPr>
          <p:cNvPr id="7" name="Text 5"/>
          <p:cNvSpPr/>
          <p:nvPr/>
        </p:nvSpPr>
        <p:spPr>
          <a:xfrm>
            <a:off x="4663440" y="2606040"/>
            <a:ext cx="1920240" cy="548640"/>
          </a:xfrm>
          <a:prstGeom prst="rect">
            <a:avLst/>
          </a:prstGeom>
          <a:noFill/>
          <a:ln/>
        </p:spPr>
        <p:txBody>
          <a:bodyPr wrap="square" lIns="0" tIns="0" rIns="0" bIns="0" rtlCol="0" anchor="ctr"/>
          <a:lstStyle/>
          <a:p>
            <a:pPr indent="0" marL="0">
              <a:buNone/>
            </a:pPr>
            <a:r>
              <a:rPr lang="en-US" sz="2600" b="1" dirty="0">
                <a:solidFill>
                  <a:srgbClr val="E3B341"/>
                </a:solidFill>
                <a:latin typeface="Georgia" pitchFamily="34" charset="0"/>
                <a:ea typeface="Georgia" pitchFamily="34" charset="-122"/>
                <a:cs typeface="Georgia" pitchFamily="34" charset="-120"/>
              </a:rPr>
              <a:t>185 ms</a:t>
            </a:r>
            <a:endParaRPr lang="en-US" sz="2600" dirty="0"/>
          </a:p>
        </p:txBody>
      </p:sp>
      <p:sp>
        <p:nvSpPr>
          <p:cNvPr id="8" name="Text 6"/>
          <p:cNvSpPr/>
          <p:nvPr/>
        </p:nvSpPr>
        <p:spPr>
          <a:xfrm>
            <a:off x="4663440" y="3154680"/>
            <a:ext cx="19202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retrieval p95 at 200×</a:t>
            </a:r>
            <a:endParaRPr lang="en-US" sz="1200" dirty="0"/>
          </a:p>
        </p:txBody>
      </p:sp>
      <p:sp>
        <p:nvSpPr>
          <p:cNvPr id="9" name="Text 7"/>
          <p:cNvSpPr/>
          <p:nvPr/>
        </p:nvSpPr>
        <p:spPr>
          <a:xfrm>
            <a:off x="6720840" y="2606040"/>
            <a:ext cx="1920240" cy="548640"/>
          </a:xfrm>
          <a:prstGeom prst="rect">
            <a:avLst/>
          </a:prstGeom>
          <a:noFill/>
          <a:ln/>
        </p:spPr>
        <p:txBody>
          <a:bodyPr wrap="square" lIns="0" tIns="0" rIns="0" bIns="0" rtlCol="0" anchor="ctr"/>
          <a:lstStyle/>
          <a:p>
            <a:pPr indent="0" marL="0">
              <a:buNone/>
            </a:pPr>
            <a:r>
              <a:rPr lang="en-US" sz="2600" b="1" dirty="0">
                <a:solidFill>
                  <a:srgbClr val="E3B341"/>
                </a:solidFill>
                <a:latin typeface="Georgia" pitchFamily="34" charset="0"/>
                <a:ea typeface="Georgia" pitchFamily="34" charset="-122"/>
                <a:cs typeface="Georgia" pitchFamily="34" charset="-120"/>
              </a:rPr>
              <a:t>31</a:t>
            </a:r>
            <a:endParaRPr lang="en-US" sz="2600" dirty="0"/>
          </a:p>
        </p:txBody>
      </p:sp>
      <p:sp>
        <p:nvSpPr>
          <p:cNvPr id="10" name="Text 8"/>
          <p:cNvSpPr/>
          <p:nvPr/>
        </p:nvSpPr>
        <p:spPr>
          <a:xfrm>
            <a:off x="6720840" y="3154680"/>
            <a:ext cx="19202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automated tests in CI</a:t>
            </a:r>
            <a:endParaRPr lang="en-US" sz="1200" dirty="0"/>
          </a:p>
        </p:txBody>
      </p:sp>
      <p:sp>
        <p:nvSpPr>
          <p:cNvPr id="11" name="Text 9"/>
          <p:cNvSpPr/>
          <p:nvPr/>
        </p:nvSpPr>
        <p:spPr>
          <a:xfrm>
            <a:off x="548640" y="4023360"/>
            <a:ext cx="80467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Thank you — questions?</a:t>
            </a:r>
            <a:endParaRPr lang="en-US" sz="1800" dirty="0"/>
          </a:p>
        </p:txBody>
      </p:sp>
      <p:sp>
        <p:nvSpPr>
          <p:cNvPr id="12" name="Text 10"/>
          <p:cNvSpPr/>
          <p:nvPr/>
        </p:nvSpPr>
        <p:spPr>
          <a:xfrm>
            <a:off x="548640" y="4480560"/>
            <a:ext cx="8046720" cy="27432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github.com/Shivansharmaaaa/graphrag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GraphRAG-Powered CTI Platform — Review III</dc:title>
  <dc:subject>PptxGenJS Presentation</dc:subject>
  <dc:creator>Shivansh Sharma, Himali Sharma, Aayush Sinha</dc:creator>
  <cp:lastModifiedBy>Shivansh Sharma, Himali Sharma, Aayush Sinha</cp:lastModifiedBy>
  <cp:revision>1</cp:revision>
  <dcterms:created xsi:type="dcterms:W3CDTF">2026-10-26T15:40:44Z</dcterms:created>
  <dcterms:modified xsi:type="dcterms:W3CDTF">2026-10-26T15:40:44Z</dcterms:modified>
</cp:coreProperties>
</file>